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6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730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laude.ai/" TargetMode="External"/><Relationship Id="rId13" Type="http://schemas.openxmlformats.org/officeDocument/2006/relationships/hyperlink" Target="https://www.microsoft.com/en-us/microsoft-365/copilot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17" Type="http://schemas.openxmlformats.org/officeDocument/2006/relationships/hyperlink" Target="https://www.youtube.com/watch?v=78D6y_QMz8E&amp;list=PLUCwZykrxUtM6kb4EZcFajpfeVp6ZUqJP&amp;index=6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www.tryshortcut.ai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oom.com/share/6e094485c53d47b3b4968a2b518e09f9" TargetMode="External"/><Relationship Id="rId11" Type="http://schemas.openxmlformats.org/officeDocument/2006/relationships/hyperlink" Target="https://www.loom.com/share/5d67d4c6e19d4a3dbb9d80f28dce807f" TargetMode="Externa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hyperlink" Target="https://www.hyperperfect.ai/" TargetMode="External"/><Relationship Id="rId9" Type="http://schemas.openxmlformats.org/officeDocument/2006/relationships/image" Target="../media/image4.png"/><Relationship Id="rId14" Type="http://schemas.openxmlformats.org/officeDocument/2006/relationships/hyperlink" Target="https://www.youtube.com/watch?v=IPJ2XvTOeQQ&amp;list=PLUCwZykrxUtM6kb4EZcFajpfeVp6ZUqJP&amp;index=11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pF2R6Fao-64" TargetMode="External"/><Relationship Id="rId3" Type="http://schemas.openxmlformats.org/officeDocument/2006/relationships/hyperlink" Target="https://elkar.co/" TargetMode="External"/><Relationship Id="rId7" Type="http://schemas.openxmlformats.org/officeDocument/2006/relationships/hyperlink" Target="https://trufflepig.ai/" TargetMode="External"/><Relationship Id="rId12" Type="http://schemas.openxmlformats.org/officeDocument/2006/relationships/hyperlink" Target="https://www.youtube.com/watch?v=Pkid79RjT1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MKvX_oP2HJE" TargetMode="External"/><Relationship Id="rId11" Type="http://schemas.openxmlformats.org/officeDocument/2006/relationships/hyperlink" Target="https://www.askrosie.ai/" TargetMode="External"/><Relationship Id="rId5" Type="http://schemas.openxmlformats.org/officeDocument/2006/relationships/hyperlink" Target="https://www.tabai.io/" TargetMode="External"/><Relationship Id="rId10" Type="http://schemas.openxmlformats.org/officeDocument/2006/relationships/hyperlink" Target="https://www.youtube.com/watch?v=CEYBJMOV_kc" TargetMode="External"/><Relationship Id="rId4" Type="http://schemas.openxmlformats.org/officeDocument/2006/relationships/hyperlink" Target="https://www.youtube.com/watch?v=9gRrP1r8yh8" TargetMode="External"/><Relationship Id="rId9" Type="http://schemas.openxmlformats.org/officeDocument/2006/relationships/hyperlink" Target="https://tracelight.ai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Excel: Three-Statement Model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5-year forecast from 3 years of historical financial statements  |  Same prompt, same data, same criteria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" y="171907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" y="208483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" y="245059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Errors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804672"/>
            <a:ext cx="18470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85039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307592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750" dirty="0"/>
          </a:p>
        </p:txBody>
      </p:sp>
      <p:sp>
        <p:nvSpPr>
          <p:cNvPr id="11" name="Text 8">
            <a:hlinkClick r:id="rId4"/>
          </p:cNvPr>
          <p:cNvSpPr/>
          <p:nvPr/>
        </p:nvSpPr>
        <p:spPr>
          <a:xfrm>
            <a:off x="950976" y="14081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HyperPerfect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24128" y="1645920"/>
            <a:ext cx="1627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1792224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52728" y="17190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024128" y="2057400"/>
            <a:ext cx="162763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2157984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52728" y="20848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correct and dynamic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1024128" y="2423160"/>
            <a:ext cx="162763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2523744"/>
            <a:ext cx="164592" cy="1645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52728" y="2450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1024128" y="2852928"/>
            <a:ext cx="1627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69264" y="2907792"/>
            <a:ext cx="1737360" cy="1207008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969264" y="2907792"/>
            <a:ext cx="36576" cy="120700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1078992" y="296265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1078992" y="31089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critical errors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078992" y="3273552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cosmetic items (year labels, historical linkage).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969264" y="415137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</a:t>
            </a: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2907792" y="804672"/>
            <a:ext cx="18470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736" y="850392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907792" y="1307592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750" dirty="0"/>
          </a:p>
        </p:txBody>
      </p:sp>
      <p:sp>
        <p:nvSpPr>
          <p:cNvPr id="31" name="Text 24">
            <a:hlinkClick r:id="rId8"/>
          </p:cNvPr>
          <p:cNvSpPr/>
          <p:nvPr/>
        </p:nvSpPr>
        <p:spPr>
          <a:xfrm>
            <a:off x="2944368" y="14081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in Excel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038441" y="1315612"/>
            <a:ext cx="5287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</a:t>
            </a:r>
            <a:endParaRPr lang="en-US" sz="700" dirty="0"/>
          </a:p>
        </p:txBody>
      </p:sp>
      <p:sp>
        <p:nvSpPr>
          <p:cNvPr id="33" name="Shape 26"/>
          <p:cNvSpPr/>
          <p:nvPr/>
        </p:nvSpPr>
        <p:spPr>
          <a:xfrm>
            <a:off x="3017520" y="1645920"/>
            <a:ext cx="1627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1792224"/>
            <a:ext cx="164592" cy="16459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246120" y="17190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3017520" y="2057400"/>
            <a:ext cx="162763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7520" y="2157984"/>
            <a:ext cx="164592" cy="16459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246120" y="20848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correct; one hardcode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3017520" y="2423160"/>
            <a:ext cx="162763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520" y="2523744"/>
            <a:ext cx="164592" cy="16459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246120" y="2450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 cash, missing interest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3017520" y="2852928"/>
            <a:ext cx="1627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3"/>
          <p:cNvSpPr/>
          <p:nvPr/>
        </p:nvSpPr>
        <p:spPr>
          <a:xfrm>
            <a:off x="2962656" y="2907792"/>
            <a:ext cx="1737360" cy="1207008"/>
          </a:xfrm>
          <a:prstGeom prst="rect">
            <a:avLst/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4"/>
          <p:cNvSpPr/>
          <p:nvPr/>
        </p:nvSpPr>
        <p:spPr>
          <a:xfrm>
            <a:off x="2962656" y="2907792"/>
            <a:ext cx="36576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5"/>
          <p:cNvSpPr/>
          <p:nvPr/>
        </p:nvSpPr>
        <p:spPr>
          <a:xfrm>
            <a:off x="3072384" y="296265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800" dirty="0"/>
          </a:p>
        </p:txBody>
      </p:sp>
      <p:sp>
        <p:nvSpPr>
          <p:cNvPr id="46" name="Text 36"/>
          <p:cNvSpPr/>
          <p:nvPr/>
        </p:nvSpPr>
        <p:spPr>
          <a:xfrm>
            <a:off x="3072384" y="31089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critical errors</a:t>
            </a:r>
            <a:endParaRPr lang="en-US" sz="950" dirty="0"/>
          </a:p>
        </p:txBody>
      </p:sp>
      <p:sp>
        <p:nvSpPr>
          <p:cNvPr id="47" name="Text 37"/>
          <p:cNvSpPr/>
          <p:nvPr/>
        </p:nvSpPr>
        <p:spPr>
          <a:xfrm>
            <a:off x="3072384" y="3273552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goes negative with no revolver draw; interest expense ignores revolver borrowings.</a:t>
            </a:r>
            <a:endParaRPr lang="en-US" sz="800" dirty="0"/>
          </a:p>
        </p:txBody>
      </p:sp>
      <p:sp>
        <p:nvSpPr>
          <p:cNvPr id="48" name="Text 38"/>
          <p:cNvSpPr/>
          <p:nvPr/>
        </p:nvSpPr>
        <p:spPr>
          <a:xfrm>
            <a:off x="2962656" y="415137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</a:t>
            </a: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50" dirty="0"/>
          </a:p>
        </p:txBody>
      </p:sp>
      <p:sp>
        <p:nvSpPr>
          <p:cNvPr id="49" name="Shape 39"/>
          <p:cNvSpPr/>
          <p:nvPr/>
        </p:nvSpPr>
        <p:spPr>
          <a:xfrm>
            <a:off x="4901184" y="804672"/>
            <a:ext cx="18470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96128" y="850392"/>
            <a:ext cx="457200" cy="45720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4901184" y="1307592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750" dirty="0"/>
          </a:p>
        </p:txBody>
      </p:sp>
      <p:sp>
        <p:nvSpPr>
          <p:cNvPr id="52" name="Text 41">
            <a:hlinkClick r:id="rId13"/>
          </p:cNvPr>
          <p:cNvSpPr/>
          <p:nvPr/>
        </p:nvSpPr>
        <p:spPr>
          <a:xfrm>
            <a:off x="4937760" y="14081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Agent</a:t>
            </a:r>
            <a:endParaRPr lang="en-US" sz="1300" dirty="0"/>
          </a:p>
        </p:txBody>
      </p:sp>
      <p:sp>
        <p:nvSpPr>
          <p:cNvPr id="53" name="Shape 42"/>
          <p:cNvSpPr/>
          <p:nvPr/>
        </p:nvSpPr>
        <p:spPr>
          <a:xfrm>
            <a:off x="5010912" y="1645920"/>
            <a:ext cx="1627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0912" y="1792224"/>
            <a:ext cx="164592" cy="164592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239512" y="17190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balanced*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5010912" y="2057400"/>
            <a:ext cx="162763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0912" y="2157984"/>
            <a:ext cx="164592" cy="164592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5239512" y="20848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Uncaught #REF errors</a:t>
            </a:r>
            <a:endParaRPr lang="en-US" sz="900" dirty="0"/>
          </a:p>
        </p:txBody>
      </p:sp>
      <p:sp>
        <p:nvSpPr>
          <p:cNvPr id="59" name="Shape 46"/>
          <p:cNvSpPr/>
          <p:nvPr/>
        </p:nvSpPr>
        <p:spPr>
          <a:xfrm>
            <a:off x="5010912" y="2423160"/>
            <a:ext cx="162763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0912" y="2523744"/>
            <a:ext cx="164592" cy="164592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5239512" y="2450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breaks in year 5</a:t>
            </a:r>
            <a:endParaRPr lang="en-US" sz="900" dirty="0"/>
          </a:p>
        </p:txBody>
      </p:sp>
      <p:sp>
        <p:nvSpPr>
          <p:cNvPr id="62" name="Shape 48"/>
          <p:cNvSpPr/>
          <p:nvPr/>
        </p:nvSpPr>
        <p:spPr>
          <a:xfrm>
            <a:off x="5010912" y="2852928"/>
            <a:ext cx="1627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49"/>
          <p:cNvSpPr/>
          <p:nvPr/>
        </p:nvSpPr>
        <p:spPr>
          <a:xfrm>
            <a:off x="4956048" y="2907792"/>
            <a:ext cx="1737360" cy="1207008"/>
          </a:xfrm>
          <a:prstGeom prst="rect">
            <a:avLst/>
          </a:prstGeom>
          <a:solidFill>
            <a:srgbClr val="FFF7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0"/>
          <p:cNvSpPr/>
          <p:nvPr/>
        </p:nvSpPr>
        <p:spPr>
          <a:xfrm>
            <a:off x="4956048" y="2907792"/>
            <a:ext cx="36576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1"/>
          <p:cNvSpPr/>
          <p:nvPr/>
        </p:nvSpPr>
        <p:spPr>
          <a:xfrm>
            <a:off x="5065776" y="296265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800" dirty="0"/>
          </a:p>
        </p:txBody>
      </p:sp>
      <p:sp>
        <p:nvSpPr>
          <p:cNvPr id="66" name="Text 52"/>
          <p:cNvSpPr/>
          <p:nvPr/>
        </p:nvSpPr>
        <p:spPr>
          <a:xfrm>
            <a:off x="5065776" y="31089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model</a:t>
            </a:r>
            <a:endParaRPr lang="en-US" sz="950" dirty="0"/>
          </a:p>
        </p:txBody>
      </p:sp>
      <p:sp>
        <p:nvSpPr>
          <p:cNvPr id="67" name="Text 53"/>
          <p:cNvSpPr/>
          <p:nvPr/>
        </p:nvSpPr>
        <p:spPr>
          <a:xfrm>
            <a:off x="5065776" y="3273552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wasn’t balanced; Ref errors due to reference problems caused major issues.</a:t>
            </a:r>
            <a:endParaRPr lang="en-US" sz="800" dirty="0"/>
          </a:p>
        </p:txBody>
      </p:sp>
      <p:sp>
        <p:nvSpPr>
          <p:cNvPr id="68" name="Text 54"/>
          <p:cNvSpPr/>
          <p:nvPr/>
        </p:nvSpPr>
        <p:spPr>
          <a:xfrm>
            <a:off x="4956048" y="415137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</a:t>
            </a: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50" dirty="0"/>
          </a:p>
        </p:txBody>
      </p:sp>
      <p:sp>
        <p:nvSpPr>
          <p:cNvPr id="69" name="Shape 55"/>
          <p:cNvSpPr/>
          <p:nvPr/>
        </p:nvSpPr>
        <p:spPr>
          <a:xfrm>
            <a:off x="6894576" y="804672"/>
            <a:ext cx="18470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9520" y="850392"/>
            <a:ext cx="457200" cy="457200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6894576" y="1307592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PLACE</a:t>
            </a:r>
            <a:endParaRPr lang="en-US" sz="750" dirty="0"/>
          </a:p>
        </p:txBody>
      </p:sp>
      <p:sp>
        <p:nvSpPr>
          <p:cNvPr id="72" name="Text 57">
            <a:hlinkClick r:id="rId16"/>
          </p:cNvPr>
          <p:cNvSpPr/>
          <p:nvPr/>
        </p:nvSpPr>
        <p:spPr>
          <a:xfrm>
            <a:off x="6931152" y="14081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Shortcut</a:t>
            </a:r>
            <a:endParaRPr lang="en-US" sz="1300" dirty="0"/>
          </a:p>
        </p:txBody>
      </p:sp>
      <p:sp>
        <p:nvSpPr>
          <p:cNvPr id="73" name="Shape 58"/>
          <p:cNvSpPr/>
          <p:nvPr/>
        </p:nvSpPr>
        <p:spPr>
          <a:xfrm>
            <a:off x="7004304" y="1645920"/>
            <a:ext cx="1627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4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4304" y="1792224"/>
            <a:ext cx="164592" cy="164592"/>
          </a:xfrm>
          <a:prstGeom prst="rect">
            <a:avLst/>
          </a:prstGeom>
        </p:spPr>
      </p:pic>
      <p:sp>
        <p:nvSpPr>
          <p:cNvPr id="75" name="Text 59"/>
          <p:cNvSpPr/>
          <p:nvPr/>
        </p:nvSpPr>
        <p:spPr>
          <a:xfrm>
            <a:off x="7232904" y="17190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by $37M</a:t>
            </a:r>
            <a:endParaRPr lang="en-US" sz="900" dirty="0"/>
          </a:p>
        </p:txBody>
      </p:sp>
      <p:sp>
        <p:nvSpPr>
          <p:cNvPr id="76" name="Shape 60"/>
          <p:cNvSpPr/>
          <p:nvPr/>
        </p:nvSpPr>
        <p:spPr>
          <a:xfrm>
            <a:off x="7004304" y="2057400"/>
            <a:ext cx="162763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7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4304" y="2157984"/>
            <a:ext cx="164592" cy="164592"/>
          </a:xfrm>
          <a:prstGeom prst="rect">
            <a:avLst/>
          </a:prstGeom>
        </p:spPr>
      </p:pic>
      <p:sp>
        <p:nvSpPr>
          <p:cNvPr id="78" name="Text 61"/>
          <p:cNvSpPr/>
          <p:nvPr/>
        </p:nvSpPr>
        <p:spPr>
          <a:xfrm>
            <a:off x="7232904" y="20848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Mistakes; hardcoded</a:t>
            </a:r>
            <a:endParaRPr lang="en-US" sz="900" dirty="0"/>
          </a:p>
        </p:txBody>
      </p:sp>
      <p:sp>
        <p:nvSpPr>
          <p:cNvPr id="79" name="Shape 62"/>
          <p:cNvSpPr/>
          <p:nvPr/>
        </p:nvSpPr>
        <p:spPr>
          <a:xfrm>
            <a:off x="7004304" y="2423160"/>
            <a:ext cx="162763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0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4304" y="2523744"/>
            <a:ext cx="164592" cy="164592"/>
          </a:xfrm>
          <a:prstGeom prst="rect">
            <a:avLst/>
          </a:prstGeom>
        </p:spPr>
      </p:pic>
      <p:sp>
        <p:nvSpPr>
          <p:cNvPr id="81" name="Text 63"/>
          <p:cNvSpPr/>
          <p:nvPr/>
        </p:nvSpPr>
        <p:spPr>
          <a:xfrm>
            <a:off x="7232904" y="2450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working capital</a:t>
            </a:r>
            <a:endParaRPr lang="en-US" sz="900" dirty="0"/>
          </a:p>
        </p:txBody>
      </p:sp>
      <p:sp>
        <p:nvSpPr>
          <p:cNvPr id="82" name="Shape 64"/>
          <p:cNvSpPr/>
          <p:nvPr/>
        </p:nvSpPr>
        <p:spPr>
          <a:xfrm>
            <a:off x="7004304" y="2852928"/>
            <a:ext cx="16276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65"/>
          <p:cNvSpPr/>
          <p:nvPr/>
        </p:nvSpPr>
        <p:spPr>
          <a:xfrm>
            <a:off x="6949440" y="2907792"/>
            <a:ext cx="1737360" cy="1207008"/>
          </a:xfrm>
          <a:prstGeom prst="rect">
            <a:avLst/>
          </a:prstGeom>
          <a:solidFill>
            <a:srgbClr val="FE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66"/>
          <p:cNvSpPr/>
          <p:nvPr/>
        </p:nvSpPr>
        <p:spPr>
          <a:xfrm>
            <a:off x="6949440" y="2907792"/>
            <a:ext cx="36576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67"/>
          <p:cNvSpPr/>
          <p:nvPr/>
        </p:nvSpPr>
        <p:spPr>
          <a:xfrm>
            <a:off x="7059168" y="296265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800" dirty="0"/>
          </a:p>
        </p:txBody>
      </p:sp>
      <p:sp>
        <p:nvSpPr>
          <p:cNvPr id="86" name="Text 68"/>
          <p:cNvSpPr/>
          <p:nvPr/>
        </p:nvSpPr>
        <p:spPr>
          <a:xfrm>
            <a:off x="7059168" y="31089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issues</a:t>
            </a:r>
            <a:endParaRPr lang="en-US" sz="950" dirty="0"/>
          </a:p>
        </p:txBody>
      </p:sp>
      <p:sp>
        <p:nvSpPr>
          <p:cNvPr id="87" name="Text 69"/>
          <p:cNvSpPr/>
          <p:nvPr/>
        </p:nvSpPr>
        <p:spPr>
          <a:xfrm>
            <a:off x="7059168" y="3273552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off $37M, which AI called “close enough”; assumptions built but not linked to formulas.</a:t>
            </a:r>
            <a:endParaRPr lang="en-US" sz="800" dirty="0"/>
          </a:p>
        </p:txBody>
      </p:sp>
      <p:sp>
        <p:nvSpPr>
          <p:cNvPr id="88" name="Text 70"/>
          <p:cNvSpPr/>
          <p:nvPr/>
        </p:nvSpPr>
        <p:spPr>
          <a:xfrm>
            <a:off x="6949440" y="415137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</a:t>
            </a:r>
            <a:r>
              <a:rPr lang="en-US" sz="750" b="1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50" dirty="0"/>
          </a:p>
        </p:txBody>
      </p:sp>
      <p:sp>
        <p:nvSpPr>
          <p:cNvPr id="89" name="Text 71"/>
          <p:cNvSpPr/>
          <p:nvPr/>
        </p:nvSpPr>
        <p:spPr>
          <a:xfrm>
            <a:off x="274320" y="47731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challenge: Mod Squad podcast series  |  Shortcut and Copilot Agent results from Mod Squad podcast  |  HyperPerfect &amp; Claude tests performed independently under same test conditions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Rest of the Field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AI-for-Excel tool tested by the Mod Squad  —  each showed strengths but none produced a balanced balance sheet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841248"/>
          <a:ext cx="8138160" cy="25146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Issues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u="sng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Elcar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7-8 critical mistakes; needed human fixes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u="sng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Watch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u="sng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Tab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reference errors; incomplete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u="sng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Watch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u="sng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Truffle Pig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by ~$50M on working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u="sng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Watch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u="sng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Trace Light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 but wrong diagnoses; working capital issues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u="sng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Watch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u="sng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Rosie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Struggled significantly; incomplete 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u="sng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Watch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4348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sourced from Mod Squad podcast transcripts (Financial Modelers Corner)  |  0 out of 7 other tools tested by the Mod Squad produced a balanced balance sheet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 •  Same data  •  Same criteria  —  9 AI-for-Excel tools put to the test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9692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95097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" y="1280160"/>
            <a:ext cx="22128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0936" y="135331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Henderson Manufacturing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30936" y="168249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FMI AFM exam case study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30936" y="20116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Provided: 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of historical financials — Income Statement, Cash Flow Statement, and Balance Sheet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30936" y="234086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with actuals (FY2022–FY2024)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54680" y="841248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96926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3592" y="95097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Task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282696" y="1280160"/>
            <a:ext cx="22128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282696" y="135331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received the same Excel model and was given one prompt to build a complete five-year forecast.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282696" y="168249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could receive follow-up guidance to fix mistakes — this was not a strict one-shot test.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282696" y="20116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 time limits were imposed on any tool.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806440" y="841248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456" y="969264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45352" y="95097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934456" y="1280160"/>
            <a:ext cx="22128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934456" y="135331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must balance (zero tolerance)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5934456" y="168249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dynamic formulas (not hardcoded)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934456" y="20116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assumptions and schedules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934456" y="234086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model structure (IS → CF → BS)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5934456" y="267004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Client-ready quality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3108960"/>
            <a:ext cx="8138160" cy="8686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02920" y="3108960"/>
            <a:ext cx="36576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36976"/>
            <a:ext cx="164592" cy="16459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05256" y="3200400"/>
            <a:ext cx="7552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prompt given to HyperPerfect and Claude in Excel: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905256" y="3419856"/>
            <a:ext cx="7552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"Build a five-year forecast in this model starting from the historic actuals provided. Make reasonable assumptions, build schedules for each area of the model, and follow best practices."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502920" y="4114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HyperPerfect 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8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Excel 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tested independently.  The remaining 7 tools were tested by the </a:t>
            </a:r>
            <a:r>
              <a:rPr lang="en-US" sz="8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Squad 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Financial Modelers Corner podcast, using the same challenge.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502920" y="444398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tested:  </a:t>
            </a: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HyperPerfect  •  Claude in Excel  •  Copilot Agent (Opus 4.6)  •  Shortcut  •  Elcar  •  Tab AI  •  Truffle Pig  •  Trace Light  •  Rosie AI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502920" y="47731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source: FMI (Financial Modeling Institute) AFM exam  |  All tools tested under similar conditions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613</Words>
  <Application>Microsoft Macintosh PowerPoint</Application>
  <PresentationFormat>On-screen Show (16:9)</PresentationFormat>
  <Paragraphs>107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Ingraham</cp:lastModifiedBy>
  <cp:revision>2</cp:revision>
  <dcterms:created xsi:type="dcterms:W3CDTF">2026-02-10T03:38:25Z</dcterms:created>
  <dcterms:modified xsi:type="dcterms:W3CDTF">2026-02-10T03:41:58Z</dcterms:modified>
</cp:coreProperties>
</file>