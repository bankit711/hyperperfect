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4"/>
    <p:sldId id="258" r:id="rId5"/>
    <p:sldId id="271" r:id="rId20"/>
    <p:sldId id="259" r:id="rId6"/>
    <p:sldId id="260" r:id="rId7"/>
    <p:sldId id="261" r:id="rId8"/>
    <p:sldId id="262" r:id="rId9"/>
    <p:sldId id="263" r:id="rId10"/>
    <p:sldId id="270" r:id="rId19"/>
    <p:sldId id="272" r:id="rId21"/>
    <p:sldId id="264" r:id="rId11"/>
    <p:sldId id="265" r:id="rId12"/>
    <p:sldId id="267"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58"/>
  </p:normalViewPr>
  <p:slideViewPr>
    <p:cSldViewPr snapToGrid="0" snapToObjects="1">
      <p:cViewPr varScale="1">
        <p:scale>
          <a:sx n="116" d="100"/>
          <a:sy n="116" d="100"/>
        </p:scale>
        <p:origin x="77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1.xml"/><Relationship Id="rId20" Type="http://schemas.openxmlformats.org/officeDocument/2006/relationships/slide" Target="slides/slide5.xml"/><Relationship Id="rId21"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de.claude.com/docs/en/overview" TargetMode="External"/><Relationship Id="rId3" Type="http://schemas.openxmlformats.org/officeDocument/2006/relationships/hyperlink" Target="https://code.claude.com/docs/en/best-practices" TargetMode="External"/><Relationship Id="rId4" Type="http://schemas.openxmlformats.org/officeDocument/2006/relationships/hyperlink" Target="https://codewithmukesh.com/blog/claude-code-for-beginners/" TargetMode="External"/><Relationship Id="rId5" Type="http://schemas.openxmlformats.org/officeDocument/2006/relationships/hyperlink" Target="https://youtube.com/watch?v=9TP1EWtedpY" TargetMode="External"/><Relationship Id="rId6" Type="http://schemas.openxmlformats.org/officeDocument/2006/relationships/hyperlink" Target="https://ucstrategies.com/news/getting-started-with-claude-code-the-beginners-guide-to-building-your-first-app/" TargetMode="External"/><Relationship Id="rId7" Type="http://schemas.openxmlformats.org/officeDocument/2006/relationships/hyperlink" Target="https://anthropic.com/engineering/claude-code-best-practices" TargetMode="External"/><Relationship Id="rId8" Type="http://schemas.openxmlformats.org/officeDocument/2006/relationships/hyperlink" Target="https://every.to/podcast/how-to-use-claude-code-like-the-people-who-built-it" TargetMode="External"/><Relationship Id="rId9" Type="http://schemas.openxmlformats.org/officeDocument/2006/relationships/hyperlink" Target="https://reddit.com/r/ClaudeAI/comments/1qgccgs/25_claude_code_tips_from_11_months_of_intense_use/" TargetMode="External"/><Relationship Id="rId10" Type="http://schemas.openxmlformats.org/officeDocument/2006/relationships/hyperlink" Target="https://nytimes.com/2026/01/23/technology/claude-code.html" TargetMode="External"/><Relationship Id="rId11" Type="http://schemas.openxmlformats.org/officeDocument/2006/relationships/hyperlink" Target="https://wired.com/story/claude-code-success-anthropic-business-mode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sreallyhim/awesome-claude-code#claudemd-exampl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anthropic.com/claude-cod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728655" cy="830997"/>
          </a:xfrm>
          <a:prstGeom prst="rect">
            <a:avLst/>
          </a:prstGeom>
          <a:noFill/>
        </p:spPr>
        <p:txBody>
          <a:bodyPr wrap="square">
            <a:spAutoFit/>
          </a:bodyPr>
          <a:lstStyle/>
          <a:p>
            <a:pPr algn="ctr">
              <a:defRPr sz="4800" b="1">
                <a:solidFill>
                  <a:srgbClr val="FFFFFF"/>
                </a:solidFill>
                <a:latin typeface="Calibri"/>
              </a:defRPr>
            </a:pPr>
            <a:r>
              <a:rPr dirty="0"/>
              <a:t>Claude Code for </a:t>
            </a:r>
            <a:r>
              <a:rPr lang="en-US" dirty="0"/>
              <a:t>Dummies</a:t>
            </a:r>
            <a:endParaRPr dirty="0"/>
          </a:p>
        </p:txBody>
      </p:sp>
      <p:sp>
        <p:nvSpPr>
          <p:cNvPr id="4" name="TextBox 3"/>
          <p:cNvSpPr txBox="1"/>
          <p:nvPr/>
        </p:nvSpPr>
        <p:spPr>
          <a:xfrm>
            <a:off x="731520" y="2926080"/>
            <a:ext cx="10728655" cy="461665"/>
          </a:xfrm>
          <a:prstGeom prst="rect">
            <a:avLst/>
          </a:prstGeom>
          <a:noFill/>
        </p:spPr>
        <p:txBody>
          <a:bodyPr wrap="square">
            <a:spAutoFit/>
          </a:bodyPr>
          <a:lstStyle/>
          <a:p>
            <a:pPr algn="ctr">
              <a:defRPr sz="2400" b="0">
                <a:solidFill>
                  <a:srgbClr val="B0B0B8"/>
                </a:solidFill>
                <a:latin typeface="Calibri"/>
              </a:defRPr>
            </a:pPr>
            <a:r>
              <a:rPr dirty="0"/>
              <a:t>A Practical Guide to </a:t>
            </a:r>
            <a:r>
              <a:rPr lang="en-US" dirty="0"/>
              <a:t>using </a:t>
            </a:r>
            <a:r>
              <a:rPr dirty="0"/>
              <a:t>AI</a:t>
            </a:r>
            <a:r>
              <a:rPr lang="en-US" dirty="0"/>
              <a:t>’s Hottest Tool</a:t>
            </a:r>
            <a:endParaRPr dirty="0"/>
          </a:p>
        </p:txBody>
      </p:sp>
      <p:sp>
        <p:nvSpPr>
          <p:cNvPr id="5" name="Rectangle 4"/>
          <p:cNvSpPr/>
          <p:nvPr/>
        </p:nvSpPr>
        <p:spPr>
          <a:xfrm>
            <a:off x="5029200" y="3931920"/>
            <a:ext cx="210312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728655" cy="369332"/>
          </a:xfrm>
          <a:prstGeom prst="rect">
            <a:avLst/>
          </a:prstGeom>
          <a:noFill/>
        </p:spPr>
        <p:txBody>
          <a:bodyPr wrap="square">
            <a:spAutoFit/>
          </a:bodyPr>
          <a:lstStyle/>
          <a:p>
            <a:pPr algn="ctr">
              <a:defRPr sz="1800" b="0">
                <a:solidFill>
                  <a:srgbClr val="B0B0B8"/>
                </a:solidFill>
                <a:latin typeface="Calibri"/>
              </a:defRPr>
            </a:pPr>
            <a:r>
              <a:rPr lang="en-US" dirty="0"/>
              <a:t>Including essential tips &amp; tricks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What Is Claude Code?</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029200" cy="877163"/>
          </a:xfrm>
          <a:prstGeom prst="rect">
            <a:avLst/>
          </a:prstGeom>
          <a:noFill/>
        </p:spPr>
        <p:txBody>
          <a:bodyPr wrap="square">
            <a:spAutoFit/>
          </a:bodyPr>
          <a:lstStyle/>
          <a:p>
            <a:pPr algn="l">
              <a:defRPr sz="1700" b="0">
                <a:solidFill>
                  <a:srgbClr val="E0E0E4"/>
                </a:solidFill>
                <a:latin typeface="Calibri"/>
              </a:defRPr>
            </a:pPr>
            <a:r>
              <a:rPr dirty="0"/>
              <a:t>Claude Code </a:t>
            </a:r>
            <a:r>
              <a:rPr lang="en-US" dirty="0"/>
              <a:t>was originally built by OpenAI’s closest competitor, </a:t>
            </a:r>
            <a:r>
              <a:rPr dirty="0"/>
              <a:t>Anthropic</a:t>
            </a:r>
            <a:r>
              <a:rPr lang="en-US" dirty="0"/>
              <a:t>, to help software engineers build code.</a:t>
            </a:r>
            <a:endParaRPr dirty="0"/>
          </a:p>
        </p:txBody>
      </p:sp>
      <p:sp>
        <p:nvSpPr>
          <p:cNvPr id="5" name="Rounded Rectangle 4"/>
          <p:cNvSpPr/>
          <p:nvPr/>
        </p:nvSpPr>
        <p:spPr>
          <a:xfrm>
            <a:off x="731520" y="2926080"/>
            <a:ext cx="2468880" cy="3342518"/>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926080"/>
            <a:ext cx="2468880" cy="54864"/>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3291840"/>
            <a:ext cx="2011680" cy="457200"/>
          </a:xfrm>
          <a:prstGeom prst="rect">
            <a:avLst/>
          </a:prstGeom>
          <a:noFill/>
        </p:spPr>
        <p:txBody>
          <a:bodyPr wrap="square">
            <a:spAutoFit/>
          </a:bodyPr>
          <a:lstStyle/>
          <a:p>
            <a:pPr algn="l">
              <a:defRPr sz="1800" b="1">
                <a:solidFill>
                  <a:srgbClr val="4EC98B"/>
                </a:solidFill>
                <a:latin typeface="Calibri"/>
              </a:defRPr>
            </a:pPr>
            <a:r>
              <a:t>Read &amp; Write Files</a:t>
            </a:r>
          </a:p>
        </p:txBody>
      </p:sp>
      <p:sp>
        <p:nvSpPr>
          <p:cNvPr id="8" name="TextBox 7"/>
          <p:cNvSpPr txBox="1"/>
          <p:nvPr/>
        </p:nvSpPr>
        <p:spPr>
          <a:xfrm>
            <a:off x="853441" y="3994718"/>
            <a:ext cx="2240280" cy="2246769"/>
          </a:xfrm>
          <a:prstGeom prst="rect">
            <a:avLst/>
          </a:prstGeom>
          <a:noFill/>
        </p:spPr>
        <p:txBody>
          <a:bodyPr wrap="square">
            <a:spAutoFit/>
          </a:bodyPr>
          <a:lstStyle/>
          <a:p>
            <a:pPr algn="l">
              <a:defRPr sz="1400" b="0">
                <a:solidFill>
                  <a:srgbClr val="B0B0B8"/>
                </a:solidFill>
                <a:latin typeface="Calibri"/>
              </a:defRPr>
            </a:pPr>
            <a:r>
              <a:rPr lang="en-US" dirty="0"/>
              <a:t>Installs on your computer (coders install it with a command line but you can use the desktop version).  Originally meant for Python and other kinds of code-based files, but now handles MSFT Office, PDFs, and just about everything else.  </a:t>
            </a:r>
            <a:endParaRPr dirty="0"/>
          </a:p>
        </p:txBody>
      </p:sp>
      <p:sp>
        <p:nvSpPr>
          <p:cNvPr id="9" name="Rounded Rectangle 8"/>
          <p:cNvSpPr/>
          <p:nvPr/>
        </p:nvSpPr>
        <p:spPr>
          <a:xfrm>
            <a:off x="3520440" y="2926080"/>
            <a:ext cx="2468880" cy="3342518"/>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2926080"/>
            <a:ext cx="2468880" cy="54864"/>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40" y="3291840"/>
            <a:ext cx="2011680" cy="646331"/>
          </a:xfrm>
          <a:prstGeom prst="rect">
            <a:avLst/>
          </a:prstGeom>
          <a:noFill/>
        </p:spPr>
        <p:txBody>
          <a:bodyPr wrap="square">
            <a:spAutoFit/>
          </a:bodyPr>
          <a:lstStyle/>
          <a:p>
            <a:pPr algn="l">
              <a:defRPr sz="1800" b="1">
                <a:solidFill>
                  <a:srgbClr val="5B8DEF"/>
                </a:solidFill>
                <a:latin typeface="Calibri"/>
              </a:defRPr>
            </a:pPr>
            <a:r>
              <a:rPr lang="en-US" dirty="0"/>
              <a:t>Suddenly Web Savvy</a:t>
            </a:r>
            <a:endParaRPr dirty="0"/>
          </a:p>
        </p:txBody>
      </p:sp>
      <p:sp>
        <p:nvSpPr>
          <p:cNvPr id="12" name="TextBox 11"/>
          <p:cNvSpPr txBox="1"/>
          <p:nvPr/>
        </p:nvSpPr>
        <p:spPr>
          <a:xfrm>
            <a:off x="3749040" y="3994718"/>
            <a:ext cx="2122950" cy="1600438"/>
          </a:xfrm>
          <a:prstGeom prst="rect">
            <a:avLst/>
          </a:prstGeom>
          <a:noFill/>
        </p:spPr>
        <p:txBody>
          <a:bodyPr wrap="square">
            <a:spAutoFit/>
          </a:bodyPr>
          <a:lstStyle/>
          <a:p>
            <a:pPr algn="l">
              <a:defRPr sz="1400" b="0">
                <a:solidFill>
                  <a:srgbClr val="B0B0B8"/>
                </a:solidFill>
                <a:latin typeface="Calibri"/>
              </a:defRPr>
            </a:pPr>
            <a:r>
              <a:rPr lang="en-US" dirty="0"/>
              <a:t>It was always able to search the Internet, but now with its newly released Chrome extension, it’s able to do interact with Websites impressively well.</a:t>
            </a:r>
            <a:endParaRPr dirty="0"/>
          </a:p>
        </p:txBody>
      </p:sp>
      <p:sp>
        <p:nvSpPr>
          <p:cNvPr id="13" name="Rounded Rectangle 12"/>
          <p:cNvSpPr/>
          <p:nvPr/>
        </p:nvSpPr>
        <p:spPr>
          <a:xfrm>
            <a:off x="6309360" y="2926080"/>
            <a:ext cx="2468880" cy="3342518"/>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2926080"/>
            <a:ext cx="2468880" cy="54864"/>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3291840"/>
            <a:ext cx="2011680" cy="646331"/>
          </a:xfrm>
          <a:prstGeom prst="rect">
            <a:avLst/>
          </a:prstGeom>
          <a:noFill/>
        </p:spPr>
        <p:txBody>
          <a:bodyPr wrap="square">
            <a:spAutoFit/>
          </a:bodyPr>
          <a:lstStyle/>
          <a:p>
            <a:pPr algn="l">
              <a:defRPr sz="1800" b="1">
                <a:solidFill>
                  <a:srgbClr val="9B6EE7"/>
                </a:solidFill>
                <a:latin typeface="Calibri"/>
              </a:defRPr>
            </a:pPr>
            <a:r>
              <a:rPr lang="en-US" dirty="0"/>
              <a:t>Easy to Use, Hard to Master</a:t>
            </a:r>
            <a:endParaRPr dirty="0"/>
          </a:p>
        </p:txBody>
      </p:sp>
      <p:sp>
        <p:nvSpPr>
          <p:cNvPr id="16" name="TextBox 15"/>
          <p:cNvSpPr txBox="1"/>
          <p:nvPr/>
        </p:nvSpPr>
        <p:spPr>
          <a:xfrm>
            <a:off x="6537960" y="3994718"/>
            <a:ext cx="2011680" cy="2031325"/>
          </a:xfrm>
          <a:prstGeom prst="rect">
            <a:avLst/>
          </a:prstGeom>
          <a:noFill/>
        </p:spPr>
        <p:txBody>
          <a:bodyPr wrap="square">
            <a:spAutoFit/>
          </a:bodyPr>
          <a:lstStyle/>
          <a:p>
            <a:pPr algn="l">
              <a:defRPr sz="1400" b="0">
                <a:solidFill>
                  <a:srgbClr val="B0B0B8"/>
                </a:solidFill>
                <a:latin typeface="Calibri"/>
              </a:defRPr>
            </a:pPr>
            <a:r>
              <a:rPr lang="en-US" dirty="0"/>
              <a:t>Not hard to get started, but game-changing features are being released constantly.  Expert level requires knowing terms like Agents, Markdown, Context Windows, Skills, MCP Servers, and more.</a:t>
            </a:r>
            <a:endParaRPr dirty="0"/>
          </a:p>
        </p:txBody>
      </p:sp>
      <p:sp>
        <p:nvSpPr>
          <p:cNvPr id="17" name="Rounded Rectangle 16"/>
          <p:cNvSpPr/>
          <p:nvPr/>
        </p:nvSpPr>
        <p:spPr>
          <a:xfrm>
            <a:off x="9098280" y="2926080"/>
            <a:ext cx="2468880" cy="3342518"/>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98280" y="2926080"/>
            <a:ext cx="2468880" cy="54864"/>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0" y="3291840"/>
            <a:ext cx="2011680" cy="646331"/>
          </a:xfrm>
          <a:prstGeom prst="rect">
            <a:avLst/>
          </a:prstGeom>
          <a:noFill/>
        </p:spPr>
        <p:txBody>
          <a:bodyPr wrap="square">
            <a:spAutoFit/>
          </a:bodyPr>
          <a:lstStyle/>
          <a:p>
            <a:pPr algn="l">
              <a:defRPr sz="1800" b="1">
                <a:solidFill>
                  <a:srgbClr val="D47B2A"/>
                </a:solidFill>
                <a:latin typeface="Calibri"/>
              </a:defRPr>
            </a:pPr>
            <a:r>
              <a:rPr lang="en-US" dirty="0"/>
              <a:t>Some Practical Capabilities</a:t>
            </a:r>
            <a:endParaRPr dirty="0"/>
          </a:p>
        </p:txBody>
      </p:sp>
      <p:sp>
        <p:nvSpPr>
          <p:cNvPr id="20" name="TextBox 19"/>
          <p:cNvSpPr txBox="1"/>
          <p:nvPr/>
        </p:nvSpPr>
        <p:spPr>
          <a:xfrm>
            <a:off x="9326880" y="3994718"/>
            <a:ext cx="2011680" cy="1815882"/>
          </a:xfrm>
          <a:prstGeom prst="rect">
            <a:avLst/>
          </a:prstGeom>
          <a:noFill/>
        </p:spPr>
        <p:txBody>
          <a:bodyPr wrap="square">
            <a:spAutoFit/>
          </a:bodyPr>
          <a:lstStyle/>
          <a:p>
            <a:pPr algn="l">
              <a:defRPr sz="1400" b="0">
                <a:solidFill>
                  <a:srgbClr val="B0B0B8"/>
                </a:solidFill>
                <a:latin typeface="Calibri"/>
              </a:defRPr>
            </a:pPr>
            <a:r>
              <a:rPr lang="en-US" dirty="0"/>
              <a:t>Build a Website, update a PowerPoint Deck, book airlines reservations, send out a team of bots to topical research in parallel – the lists seems to be constantly growing everyday.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646331"/>
          </a:xfrm>
          <a:prstGeom prst="rect">
            <a:avLst/>
          </a:prstGeom>
          <a:noFill/>
        </p:spPr>
        <p:txBody>
          <a:bodyPr wrap="square">
            <a:spAutoFit/>
          </a:bodyPr>
          <a:lstStyle/>
          <a:p>
            <a:pPr algn="l">
              <a:defRPr sz="3600" b="1">
                <a:solidFill>
                  <a:srgbClr val="FFFFFF"/>
                </a:solidFill>
                <a:latin typeface="Calibri"/>
              </a:defRPr>
            </a:pPr>
            <a:r>
              <a:rPr dirty="0"/>
              <a:t>Resources &amp; </a:t>
            </a:r>
            <a:r>
              <a:rPr lang="en-US" dirty="0"/>
              <a:t>Essential</a:t>
            </a:r>
            <a:r>
              <a:rPr dirty="0"/>
              <a:t> Reading</a:t>
            </a:r>
          </a:p>
        </p:txBody>
      </p:sp>
      <p:sp>
        <p:nvSpPr>
          <p:cNvPr id="4" name="Rectangle 3"/>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50000"/>
            <a:ext cx="5200000" cy="36576"/>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386576"/>
            <a:ext cx="5200000" cy="2400000"/>
          </a:xfrm>
          <a:prstGeom prst="round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1520" y="1450000"/>
            <a:ext cx="4900000" cy="300000"/>
          </a:xfrm>
          <a:prstGeom prst="rect">
            <a:avLst/>
          </a:prstGeom>
          <a:noFill/>
        </p:spPr>
        <p:txBody>
          <a:bodyPr wrap="square">
            <a:spAutoFit/>
          </a:bodyPr>
          <a:lstStyle/>
          <a:p>
            <a:r>
              <a:rPr lang="en-US" sz="1400" b="1">
                <a:solidFill>
                  <a:srgbClr val="4EC98B"/>
                </a:solidFill>
                <a:latin typeface="Calibri"/>
              </a:rPr>
              <a:t>Start With What It Is</a:t>
            </a:r>
          </a:p>
        </p:txBody>
      </p:sp>
      <p:sp>
        <p:nvSpPr>
          <p:cNvPr id="8" name="TextBox 7"/>
          <p:cNvSpPr txBox="1"/>
          <p:nvPr/>
        </p:nvSpPr>
        <p:spPr>
          <a:xfrm>
            <a:off x="881520" y="1800000"/>
            <a:ext cx="4900000" cy="2050000"/>
          </a:xfrm>
          <a:prstGeom prst="rect">
            <a:avLst/>
          </a:prstGeom>
          <a:noFill/>
        </p:spPr>
        <p:txBody>
          <a:bodyPr wrap="square">
            <a:spAutoFit/>
          </a:bodyPr>
          <a:lstStyle/>
          <a:p>
            <a:pPr>
              <a:spcAft>
                <a:spcPts val="500"/>
              </a:spcAft>
            </a:pPr>
            <a:r>
              <a:rPr lang="en-US" sz="1000" dirty="0">
                <a:solidFill>
                  <a:srgbClr val="4EC98B"/>
                </a:solidFill>
                <a:latin typeface="Calibri"/>
              </a:rPr>
              <a:t>▸ </a:t>
            </a:r>
            <a:r>
              <a:rPr lang="en-US" sz="1000" b="1" dirty="0">
                <a:solidFill>
                  <a:srgbClr val="FFFFFF"/>
                </a:solidFill>
                <a:latin typeface="Calibri"/>
                <a:hlinkClick r:id="rId2"/>
              </a:rPr>
              <a:t>Claude Code Overview</a:t>
            </a:r>
            <a:br>
              <a:rPr sz="800" dirty="0"/>
            </a:br>
            <a:r>
              <a:rPr lang="en-US" sz="900" dirty="0">
                <a:solidFill>
                  <a:srgbClr val="999999"/>
                </a:solidFill>
                <a:latin typeface="Calibri"/>
              </a:rPr>
              <a:t>   Official product overview — what it is, why it's terminal-first, core feature set</a:t>
            </a:r>
          </a:p>
          <a:p>
            <a:pPr>
              <a:spcAft>
                <a:spcPts val="500"/>
              </a:spcAft>
            </a:pPr>
            <a:r>
              <a:rPr lang="en-US" sz="1000" dirty="0">
                <a:solidFill>
                  <a:srgbClr val="4EC98B"/>
                </a:solidFill>
                <a:latin typeface="Calibri"/>
              </a:rPr>
              <a:t>▸ </a:t>
            </a:r>
            <a:r>
              <a:rPr lang="en-US" sz="1000" b="1" dirty="0">
                <a:solidFill>
                  <a:srgbClr val="FFFFFF"/>
                </a:solidFill>
                <a:latin typeface="Calibri"/>
                <a:hlinkClick r:id="rId3"/>
              </a:rPr>
              <a:t>Best Practices for Claude Code</a:t>
            </a:r>
            <a:br>
              <a:rPr sz="800" dirty="0"/>
            </a:br>
            <a:r>
              <a:rPr lang="en-US" sz="900" dirty="0">
                <a:solidFill>
                  <a:srgbClr val="999999"/>
                </a:solidFill>
                <a:latin typeface="Calibri"/>
              </a:rPr>
              <a:t>   How to actually drive it: Plan Mode, </a:t>
            </a:r>
            <a:r>
              <a:rPr lang="en-US" sz="900" dirty="0" err="1">
                <a:solidFill>
                  <a:srgbClr val="999999"/>
                </a:solidFill>
                <a:latin typeface="Calibri"/>
              </a:rPr>
              <a:t>CLAUDE.md</a:t>
            </a:r>
            <a:r>
              <a:rPr lang="en-US" sz="900" dirty="0">
                <a:solidFill>
                  <a:srgbClr val="999999"/>
                </a:solidFill>
                <a:latin typeface="Calibri"/>
              </a:rPr>
              <a:t>, sub-agents</a:t>
            </a:r>
          </a:p>
        </p:txBody>
      </p:sp>
      <p:sp>
        <p:nvSpPr>
          <p:cNvPr id="9" name="Rectangle 8"/>
          <p:cNvSpPr/>
          <p:nvPr/>
        </p:nvSpPr>
        <p:spPr>
          <a:xfrm>
            <a:off x="6200000" y="1350000"/>
            <a:ext cx="5200000" cy="36576"/>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00000" y="1386576"/>
            <a:ext cx="5200000" cy="2400000"/>
          </a:xfrm>
          <a:prstGeom prst="round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0000" y="1450000"/>
            <a:ext cx="4900000" cy="300000"/>
          </a:xfrm>
          <a:prstGeom prst="rect">
            <a:avLst/>
          </a:prstGeom>
          <a:noFill/>
        </p:spPr>
        <p:txBody>
          <a:bodyPr wrap="square">
            <a:spAutoFit/>
          </a:bodyPr>
          <a:lstStyle/>
          <a:p>
            <a:r>
              <a:rPr lang="en-US" sz="1400" b="1">
                <a:solidFill>
                  <a:srgbClr val="5B8DEF"/>
                </a:solidFill>
                <a:latin typeface="Calibri"/>
              </a:rPr>
              <a:t>Beginner-Friendly Tutorials</a:t>
            </a:r>
          </a:p>
        </p:txBody>
      </p:sp>
      <p:sp>
        <p:nvSpPr>
          <p:cNvPr id="12" name="TextBox 11"/>
          <p:cNvSpPr txBox="1"/>
          <p:nvPr/>
        </p:nvSpPr>
        <p:spPr>
          <a:xfrm>
            <a:off x="6350000" y="1800000"/>
            <a:ext cx="4900000" cy="2050000"/>
          </a:xfrm>
          <a:prstGeom prst="rect">
            <a:avLst/>
          </a:prstGeom>
          <a:noFill/>
        </p:spPr>
        <p:txBody>
          <a:bodyPr wrap="square">
            <a:spAutoFit/>
          </a:bodyPr>
          <a:lstStyle/>
          <a:p>
            <a:pPr>
              <a:spcAft>
                <a:spcPts val="500"/>
              </a:spcAft>
            </a:pPr>
            <a:r>
              <a:rPr lang="en-US" sz="1000">
                <a:solidFill>
                  <a:srgbClr val="5B8DEF"/>
                </a:solidFill>
                <a:latin typeface="Calibri"/>
              </a:rPr>
              <a:t>▸ </a:t>
            </a:r>
            <a:r>
              <a:rPr lang="en-US" sz="1000" b="1">
                <a:solidFill>
                  <a:srgbClr val="FFFFFF"/>
                </a:solidFill>
                <a:latin typeface="Calibri"/>
                <a:hlinkClick r:id="rId4"/>
              </a:rPr>
              <a:t>Claude Code Tutorial for Beginners</a:t>
            </a:r>
            <a:br>
              <a:rPr sz="800"/>
            </a:br>
            <a:r>
              <a:rPr lang="en-US" sz="900">
                <a:solidFill>
                  <a:srgbClr val="999999"/>
                </a:solidFill>
                <a:latin typeface="Calibri"/>
              </a:rPr>
              <a:t>   Complete 2026 guide: install, CLAUDE.md, Plan Mode, comparisons</a:t>
            </a:r>
          </a:p>
          <a:p>
            <a:pPr>
              <a:spcAft>
                <a:spcPts val="500"/>
              </a:spcAft>
            </a:pPr>
            <a:r>
              <a:rPr lang="en-US" sz="1000">
                <a:solidFill>
                  <a:srgbClr val="5B8DEF"/>
                </a:solidFill>
                <a:latin typeface="Calibri"/>
              </a:rPr>
              <a:t>▸ </a:t>
            </a:r>
            <a:r>
              <a:rPr lang="en-US" sz="1000" b="1">
                <a:solidFill>
                  <a:srgbClr val="FFFFFF"/>
                </a:solidFill>
                <a:latin typeface="Calibri"/>
                <a:hlinkClick r:id="rId5"/>
              </a:rPr>
              <a:t>Claude Code Tutorial for Beginners 2026</a:t>
            </a:r>
            <a:br>
              <a:rPr sz="800"/>
            </a:br>
            <a:r>
              <a:rPr lang="en-US" sz="900">
                <a:solidFill>
                  <a:srgbClr val="999999"/>
                </a:solidFill>
                <a:latin typeface="Calibri"/>
              </a:rPr>
              <a:t>   YouTube walkthrough — install, core commands, building a small CLI</a:t>
            </a:r>
          </a:p>
          <a:p>
            <a:pPr>
              <a:spcAft>
                <a:spcPts val="500"/>
              </a:spcAft>
            </a:pPr>
            <a:r>
              <a:rPr lang="en-US" sz="1000">
                <a:solidFill>
                  <a:srgbClr val="5B8DEF"/>
                </a:solidFill>
                <a:latin typeface="Calibri"/>
              </a:rPr>
              <a:t>▸ </a:t>
            </a:r>
            <a:r>
              <a:rPr lang="en-US" sz="1000" b="1">
                <a:solidFill>
                  <a:srgbClr val="FFFFFF"/>
                </a:solidFill>
                <a:latin typeface="Calibri"/>
                <a:hlinkClick r:id="rId6"/>
              </a:rPr>
              <a:t>Getting Started: Build Your First App</a:t>
            </a:r>
            <a:br>
              <a:rPr sz="800"/>
            </a:br>
            <a:r>
              <a:rPr lang="en-US" sz="900">
                <a:solidFill>
                  <a:srgbClr val="999999"/>
                </a:solidFill>
                <a:latin typeface="Calibri"/>
              </a:rPr>
              <a:t>   Step-by-step "build one real app" style article</a:t>
            </a:r>
          </a:p>
        </p:txBody>
      </p:sp>
      <p:sp>
        <p:nvSpPr>
          <p:cNvPr id="13" name="Rectangle 12"/>
          <p:cNvSpPr/>
          <p:nvPr/>
        </p:nvSpPr>
        <p:spPr>
          <a:xfrm>
            <a:off x="731520" y="3900000"/>
            <a:ext cx="5200000" cy="36576"/>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3936576"/>
            <a:ext cx="5200000" cy="2800000"/>
          </a:xfrm>
          <a:prstGeom prst="round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1520" y="4000000"/>
            <a:ext cx="4900000" cy="300000"/>
          </a:xfrm>
          <a:prstGeom prst="rect">
            <a:avLst/>
          </a:prstGeom>
          <a:noFill/>
        </p:spPr>
        <p:txBody>
          <a:bodyPr wrap="square">
            <a:spAutoFit/>
          </a:bodyPr>
          <a:lstStyle/>
          <a:p>
            <a:r>
              <a:rPr lang="en-US" sz="1400" b="1">
                <a:solidFill>
                  <a:srgbClr val="9B6EE7"/>
                </a:solidFill>
                <a:latin typeface="Calibri"/>
              </a:rPr>
              <a:t>Builders &amp; Power Users</a:t>
            </a:r>
          </a:p>
        </p:txBody>
      </p:sp>
      <p:sp>
        <p:nvSpPr>
          <p:cNvPr id="16" name="TextBox 15"/>
          <p:cNvSpPr txBox="1"/>
          <p:nvPr/>
        </p:nvSpPr>
        <p:spPr>
          <a:xfrm>
            <a:off x="881520" y="4350000"/>
            <a:ext cx="4900000" cy="2450000"/>
          </a:xfrm>
          <a:prstGeom prst="rect">
            <a:avLst/>
          </a:prstGeom>
          <a:noFill/>
        </p:spPr>
        <p:txBody>
          <a:bodyPr wrap="square">
            <a:spAutoFit/>
          </a:bodyPr>
          <a:lstStyle/>
          <a:p>
            <a:pPr>
              <a:spcAft>
                <a:spcPts val="500"/>
              </a:spcAft>
            </a:pPr>
            <a:r>
              <a:rPr lang="en-US" sz="1000">
                <a:solidFill>
                  <a:srgbClr val="9B6EE7"/>
                </a:solidFill>
                <a:latin typeface="Calibri"/>
              </a:rPr>
              <a:t>▸ </a:t>
            </a:r>
            <a:r>
              <a:rPr lang="en-US" sz="1000" b="1">
                <a:solidFill>
                  <a:srgbClr val="FFFFFF"/>
                </a:solidFill>
                <a:latin typeface="Calibri"/>
                <a:hlinkClick r:id="rId7"/>
              </a:rPr>
              <a:t>Best Practices for Agentic Coding</a:t>
            </a:r>
            <a:br>
              <a:rPr sz="800"/>
            </a:br>
            <a:r>
              <a:rPr lang="en-US" sz="900">
                <a:solidFill>
                  <a:srgbClr val="999999"/>
                </a:solidFill>
                <a:latin typeface="Calibri"/>
              </a:rPr>
              <a:t>   Anthropic engineering blog — design philosophy and concrete patterns</a:t>
            </a:r>
          </a:p>
          <a:p>
            <a:pPr>
              <a:spcAft>
                <a:spcPts val="500"/>
              </a:spcAft>
            </a:pPr>
            <a:r>
              <a:rPr lang="en-US" sz="1000">
                <a:solidFill>
                  <a:srgbClr val="9B6EE7"/>
                </a:solidFill>
                <a:latin typeface="Calibri"/>
              </a:rPr>
              <a:t>▸ </a:t>
            </a:r>
            <a:r>
              <a:rPr lang="en-US" sz="1000" b="1">
                <a:solidFill>
                  <a:srgbClr val="FFFFFF"/>
                </a:solidFill>
                <a:latin typeface="Calibri"/>
                <a:hlinkClick r:id="rId8"/>
              </a:rPr>
              <a:t>Use Claude Code Like the People Who Built It</a:t>
            </a:r>
            <a:br>
              <a:rPr sz="800"/>
            </a:br>
            <a:r>
              <a:rPr lang="en-US" sz="900">
                <a:solidFill>
                  <a:srgbClr val="999999"/>
                </a:solidFill>
                <a:latin typeface="Calibri"/>
              </a:rPr>
              <a:t>   Interview on workflows, habits, and tips from Anthropic folks</a:t>
            </a:r>
          </a:p>
          <a:p>
            <a:pPr>
              <a:spcAft>
                <a:spcPts val="500"/>
              </a:spcAft>
            </a:pPr>
            <a:r>
              <a:rPr lang="en-US" sz="1000">
                <a:solidFill>
                  <a:srgbClr val="9B6EE7"/>
                </a:solidFill>
                <a:latin typeface="Calibri"/>
              </a:rPr>
              <a:t>▸ </a:t>
            </a:r>
            <a:r>
              <a:rPr lang="en-US" sz="1000" b="1">
                <a:solidFill>
                  <a:srgbClr val="FFFFFF"/>
                </a:solidFill>
                <a:latin typeface="Calibri"/>
                <a:hlinkClick r:id="rId9"/>
              </a:rPr>
              <a:t>25 Tips from 11 Months of Intense Use</a:t>
            </a:r>
            <a:br>
              <a:rPr sz="800"/>
            </a:br>
            <a:r>
              <a:rPr lang="en-US" sz="900">
                <a:solidFill>
                  <a:srgbClr val="999999"/>
                </a:solidFill>
                <a:latin typeface="Calibri"/>
              </a:rPr>
              <a:t>   Dense practical "do this, avoid that" list from a daily user</a:t>
            </a:r>
          </a:p>
        </p:txBody>
      </p:sp>
      <p:sp>
        <p:nvSpPr>
          <p:cNvPr id="17" name="Rectangle 16"/>
          <p:cNvSpPr/>
          <p:nvPr/>
        </p:nvSpPr>
        <p:spPr>
          <a:xfrm>
            <a:off x="6200000" y="3900000"/>
            <a:ext cx="52000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00000" y="3936576"/>
            <a:ext cx="5200000" cy="2800000"/>
          </a:xfrm>
          <a:prstGeom prst="round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0000" y="4000000"/>
            <a:ext cx="4900000" cy="300000"/>
          </a:xfrm>
          <a:prstGeom prst="rect">
            <a:avLst/>
          </a:prstGeom>
          <a:noFill/>
        </p:spPr>
        <p:txBody>
          <a:bodyPr wrap="square">
            <a:spAutoFit/>
          </a:bodyPr>
          <a:lstStyle/>
          <a:p>
            <a:r>
              <a:rPr lang="en-US" sz="1400" b="1">
                <a:solidFill>
                  <a:srgbClr val="D47B2A"/>
                </a:solidFill>
                <a:latin typeface="Calibri"/>
              </a:rPr>
              <a:t>Big Picture &amp; Cultural Impact</a:t>
            </a:r>
          </a:p>
        </p:txBody>
      </p:sp>
      <p:sp>
        <p:nvSpPr>
          <p:cNvPr id="20" name="TextBox 19"/>
          <p:cNvSpPr txBox="1"/>
          <p:nvPr/>
        </p:nvSpPr>
        <p:spPr>
          <a:xfrm>
            <a:off x="6350000" y="4350000"/>
            <a:ext cx="4900000" cy="2450000"/>
          </a:xfrm>
          <a:prstGeom prst="rect">
            <a:avLst/>
          </a:prstGeom>
          <a:noFill/>
        </p:spPr>
        <p:txBody>
          <a:bodyPr wrap="square">
            <a:spAutoFit/>
          </a:bodyPr>
          <a:lstStyle/>
          <a:p>
            <a:pPr>
              <a:spcAft>
                <a:spcPts val="500"/>
              </a:spcAft>
            </a:pPr>
            <a:r>
              <a:rPr lang="en-US" sz="1000">
                <a:solidFill>
                  <a:srgbClr val="D47B2A"/>
                </a:solidFill>
                <a:latin typeface="Calibri"/>
              </a:rPr>
              <a:t>▸ </a:t>
            </a:r>
            <a:r>
              <a:rPr lang="en-US" sz="1000" b="1">
                <a:solidFill>
                  <a:srgbClr val="FFFFFF"/>
                </a:solidFill>
                <a:latin typeface="Calibri"/>
                <a:hlinkClick r:id="rId10"/>
              </a:rPr>
              <a:t>Five Ways People Are Using It (NYT)</a:t>
            </a:r>
            <a:br>
              <a:rPr sz="800"/>
            </a:br>
            <a:r>
              <a:rPr lang="en-US" sz="900">
                <a:solidFill>
                  <a:srgbClr val="999999"/>
                </a:solidFill>
                <a:latin typeface="Calibri"/>
              </a:rPr>
              <a:t>   Why Claude Code blew up and what people actually do with it</a:t>
            </a:r>
          </a:p>
          <a:p>
            <a:pPr>
              <a:spcAft>
                <a:spcPts val="500"/>
              </a:spcAft>
            </a:pPr>
            <a:r>
              <a:rPr lang="en-US" sz="1000">
                <a:solidFill>
                  <a:srgbClr val="D47B2A"/>
                </a:solidFill>
                <a:latin typeface="Calibri"/>
              </a:rPr>
              <a:t>▸ </a:t>
            </a:r>
            <a:r>
              <a:rPr lang="en-US" sz="1000" b="1">
                <a:solidFill>
                  <a:srgbClr val="FFFFFF"/>
                </a:solidFill>
                <a:latin typeface="Calibri"/>
                <a:hlinkClick r:id="rId11"/>
              </a:rPr>
              <a:t>How Claude Code Is Reshaping Software (Wired)</a:t>
            </a:r>
            <a:br>
              <a:rPr sz="800"/>
            </a:br>
            <a:r>
              <a:rPr lang="en-US" sz="900">
                <a:solidFill>
                  <a:srgbClr val="999999"/>
                </a:solidFill>
                <a:latin typeface="Calibri"/>
              </a:rPr>
              <a:t>   How it changed internal engineering and the business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Getting Started</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1520" y="1554480"/>
            <a:ext cx="457200" cy="457200"/>
          </a:xfrm>
          <a:prstGeom prst="ellipse">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1</a:t>
            </a:r>
          </a:p>
        </p:txBody>
      </p:sp>
      <p:sp>
        <p:nvSpPr>
          <p:cNvPr id="5" name="TextBox 4"/>
          <p:cNvSpPr txBox="1"/>
          <p:nvPr/>
        </p:nvSpPr>
        <p:spPr>
          <a:xfrm>
            <a:off x="1371600" y="1554480"/>
            <a:ext cx="4724400" cy="400110"/>
          </a:xfrm>
          <a:prstGeom prst="rect">
            <a:avLst/>
          </a:prstGeom>
          <a:noFill/>
        </p:spPr>
        <p:txBody>
          <a:bodyPr wrap="square">
            <a:spAutoFit/>
          </a:bodyPr>
          <a:lstStyle/>
          <a:p>
            <a:pPr algn="l">
              <a:defRPr sz="2000" b="1">
                <a:solidFill>
                  <a:srgbClr val="FFFFFF"/>
                </a:solidFill>
                <a:latin typeface="Calibri"/>
              </a:defRPr>
            </a:pPr>
            <a:r>
              <a:rPr lang="en-US" dirty="0"/>
              <a:t>If you know how to use your terminal</a:t>
            </a:r>
            <a:endParaRPr dirty="0"/>
          </a:p>
        </p:txBody>
      </p:sp>
      <p:sp>
        <p:nvSpPr>
          <p:cNvPr id="6" name="Rounded Rectangle 5"/>
          <p:cNvSpPr/>
          <p:nvPr/>
        </p:nvSpPr>
        <p:spPr>
          <a:xfrm>
            <a:off x="1371600" y="2011680"/>
            <a:ext cx="4572000" cy="54864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400">
                <a:solidFill>
                  <a:srgbClr val="E0E0E4"/>
                </a:solidFill>
                <a:latin typeface="Consolas"/>
              </a:defRPr>
            </a:pPr>
            <a:r>
              <a:t>npm install -g @anthropic-ai/claude-code</a:t>
            </a:r>
          </a:p>
        </p:txBody>
      </p:sp>
      <p:sp>
        <p:nvSpPr>
          <p:cNvPr id="7" name="Oval 6"/>
          <p:cNvSpPr/>
          <p:nvPr/>
        </p:nvSpPr>
        <p:spPr>
          <a:xfrm>
            <a:off x="731520" y="2782860"/>
            <a:ext cx="457200" cy="457200"/>
          </a:xfrm>
          <a:prstGeom prst="ellipse">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2</a:t>
            </a:r>
          </a:p>
        </p:txBody>
      </p:sp>
      <p:sp>
        <p:nvSpPr>
          <p:cNvPr id="8" name="TextBox 7"/>
          <p:cNvSpPr txBox="1"/>
          <p:nvPr/>
        </p:nvSpPr>
        <p:spPr>
          <a:xfrm>
            <a:off x="1371600" y="2782860"/>
            <a:ext cx="3657600" cy="707886"/>
          </a:xfrm>
          <a:prstGeom prst="rect">
            <a:avLst/>
          </a:prstGeom>
          <a:noFill/>
        </p:spPr>
        <p:txBody>
          <a:bodyPr wrap="square">
            <a:spAutoFit/>
          </a:bodyPr>
          <a:lstStyle/>
          <a:p>
            <a:pPr algn="l">
              <a:defRPr sz="2000" b="1">
                <a:solidFill>
                  <a:srgbClr val="FFFFFF"/>
                </a:solidFill>
                <a:latin typeface="Calibri"/>
              </a:defRPr>
            </a:pPr>
            <a:r>
              <a:rPr lang="en-US" dirty="0"/>
              <a:t>If you want to use the desktop app instead</a:t>
            </a:r>
            <a:endParaRPr dirty="0"/>
          </a:p>
        </p:txBody>
      </p:sp>
      <p:sp>
        <p:nvSpPr>
          <p:cNvPr id="9" name="Rounded Rectangle 8"/>
          <p:cNvSpPr/>
          <p:nvPr/>
        </p:nvSpPr>
        <p:spPr>
          <a:xfrm>
            <a:off x="1371600" y="3493450"/>
            <a:ext cx="4572000" cy="54864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400">
                <a:solidFill>
                  <a:srgbClr val="E0E0E4"/>
                </a:solidFill>
                <a:latin typeface="Consolas"/>
              </a:defRPr>
            </a:pPr>
            <a:r>
              <a:rPr dirty="0"/>
              <a:t>cd ~/projects/my-analysis</a:t>
            </a:r>
          </a:p>
        </p:txBody>
      </p:sp>
      <p:sp>
        <p:nvSpPr>
          <p:cNvPr id="10" name="Oval 9"/>
          <p:cNvSpPr/>
          <p:nvPr/>
        </p:nvSpPr>
        <p:spPr>
          <a:xfrm>
            <a:off x="731520" y="4297680"/>
            <a:ext cx="457200" cy="457200"/>
          </a:xfrm>
          <a:prstGeom prst="ellipse">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3</a:t>
            </a:r>
          </a:p>
        </p:txBody>
      </p:sp>
      <p:sp>
        <p:nvSpPr>
          <p:cNvPr id="11" name="TextBox 10"/>
          <p:cNvSpPr txBox="1"/>
          <p:nvPr/>
        </p:nvSpPr>
        <p:spPr>
          <a:xfrm>
            <a:off x="1371600" y="4297680"/>
            <a:ext cx="3657600" cy="365760"/>
          </a:xfrm>
          <a:prstGeom prst="rect">
            <a:avLst/>
          </a:prstGeom>
          <a:noFill/>
        </p:spPr>
        <p:txBody>
          <a:bodyPr wrap="square">
            <a:spAutoFit/>
          </a:bodyPr>
          <a:lstStyle/>
          <a:p>
            <a:pPr algn="l">
              <a:defRPr sz="2000" b="1">
                <a:solidFill>
                  <a:srgbClr val="FFFFFF"/>
                </a:solidFill>
                <a:latin typeface="Calibri"/>
              </a:defRPr>
            </a:pPr>
            <a:r>
              <a:t>Launch Claude Code</a:t>
            </a:r>
          </a:p>
        </p:txBody>
      </p:sp>
      <p:sp>
        <p:nvSpPr>
          <p:cNvPr id="12" name="Rounded Rectangle 11"/>
          <p:cNvSpPr/>
          <p:nvPr/>
        </p:nvSpPr>
        <p:spPr>
          <a:xfrm>
            <a:off x="1371600" y="4754880"/>
            <a:ext cx="4572000" cy="54864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400">
                <a:solidFill>
                  <a:srgbClr val="E0E0E4"/>
                </a:solidFill>
                <a:latin typeface="Consolas"/>
              </a:defRPr>
            </a:pPr>
            <a:r>
              <a:t>claude</a:t>
            </a:r>
          </a:p>
        </p:txBody>
      </p:sp>
      <p:sp>
        <p:nvSpPr>
          <p:cNvPr id="13" name="Rounded Rectangle 12"/>
          <p:cNvSpPr/>
          <p:nvPr/>
        </p:nvSpPr>
        <p:spPr>
          <a:xfrm>
            <a:off x="6858000" y="1554480"/>
            <a:ext cx="4389120" cy="41148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0" y="1554480"/>
            <a:ext cx="54864" cy="4114800"/>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737360"/>
            <a:ext cx="3657600" cy="365760"/>
          </a:xfrm>
          <a:prstGeom prst="rect">
            <a:avLst/>
          </a:prstGeom>
          <a:noFill/>
        </p:spPr>
        <p:txBody>
          <a:bodyPr wrap="square">
            <a:spAutoFit/>
          </a:bodyPr>
          <a:lstStyle/>
          <a:p>
            <a:pPr algn="l">
              <a:defRPr sz="2000" b="1">
                <a:solidFill>
                  <a:srgbClr val="D47B2A"/>
                </a:solidFill>
                <a:latin typeface="Calibri"/>
              </a:defRPr>
            </a:pPr>
            <a:r>
              <a:t>💡  Pro Tips</a:t>
            </a:r>
          </a:p>
        </p:txBody>
      </p:sp>
      <p:sp>
        <p:nvSpPr>
          <p:cNvPr id="16" name="TextBox 15"/>
          <p:cNvSpPr txBox="1"/>
          <p:nvPr/>
        </p:nvSpPr>
        <p:spPr>
          <a:xfrm>
            <a:off x="7223760" y="2286000"/>
            <a:ext cx="3840480" cy="3200400"/>
          </a:xfrm>
          <a:prstGeom prst="rect">
            <a:avLst/>
          </a:prstGeom>
          <a:noFill/>
        </p:spPr>
        <p:txBody>
          <a:bodyPr wrap="square">
            <a:spAutoFit/>
          </a:bodyPr>
          <a:lstStyle/>
          <a:p>
            <a:pPr>
              <a:spcAft>
                <a:spcPts val="800"/>
              </a:spcAft>
              <a:defRPr sz="1400">
                <a:solidFill>
                  <a:srgbClr val="E0E0E4"/>
                </a:solidFill>
                <a:latin typeface="Calibri"/>
              </a:defRPr>
            </a:pPr>
            <a:r>
              <a:t>Launch from the directory containing your data files so Claude can see them</a:t>
            </a:r>
          </a:p>
          <a:p>
            <a:pPr>
              <a:spcAft>
                <a:spcPts val="800"/>
              </a:spcAft>
              <a:defRPr sz="1400">
                <a:solidFill>
                  <a:srgbClr val="E0E0E4"/>
                </a:solidFill>
                <a:latin typeface="Calibri"/>
              </a:defRPr>
            </a:pPr>
            <a:r>
              <a:t>Claude has access to your full local environment — Python, R, SQL tools, etc.</a:t>
            </a:r>
          </a:p>
          <a:p>
            <a:pPr>
              <a:spcAft>
                <a:spcPts val="800"/>
              </a:spcAft>
              <a:defRPr sz="1400">
                <a:solidFill>
                  <a:srgbClr val="E0E0E4"/>
                </a:solidFill>
                <a:latin typeface="Calibri"/>
              </a:defRPr>
            </a:pPr>
            <a:r>
              <a:t>Use a virtual environment to keep analysis dependencies isolated</a:t>
            </a:r>
          </a:p>
          <a:p>
            <a:pPr>
              <a:spcAft>
                <a:spcPts val="800"/>
              </a:spcAft>
              <a:defRPr sz="1400">
                <a:solidFill>
                  <a:srgbClr val="E0E0E4"/>
                </a:solidFill>
                <a:latin typeface="Calibri"/>
              </a:defRPr>
            </a:pPr>
            <a:r>
              <a:t>Add a CLAUDE.md file to give Claude context about your project and data schema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CLAUDE.md</a:t>
            </a:r>
          </a:p>
        </p:txBody>
      </p:sp>
      <p:sp>
        <p:nvSpPr>
          <p:cNvPr id="4" name="Rectangle 3"/>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0000"/>
            <a:ext cx="5029200" cy="36576"/>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20000"/>
            <a:ext cx="5029200" cy="350000"/>
          </a:xfrm>
          <a:prstGeom prst="rect">
            <a:avLst/>
          </a:prstGeom>
          <a:noFill/>
        </p:spPr>
        <p:txBody>
          <a:bodyPr wrap="square">
            <a:spAutoFit/>
          </a:bodyPr>
          <a:lstStyle/>
          <a:p>
            <a:r>
              <a:rPr lang="en-US" sz="1600" b="1">
                <a:solidFill>
                  <a:srgbClr val="4EC98B"/>
                </a:solidFill>
                <a:latin typeface="Calibri"/>
              </a:rPr>
              <a:t>What Is CLAUDE.md?</a:t>
            </a:r>
          </a:p>
        </p:txBody>
      </p:sp>
      <p:sp>
        <p:nvSpPr>
          <p:cNvPr id="7" name="TextBox 6"/>
          <p:cNvSpPr txBox="1"/>
          <p:nvPr/>
        </p:nvSpPr>
        <p:spPr>
          <a:xfrm>
            <a:off x="731520" y="1800000"/>
            <a:ext cx="5029200" cy="900000"/>
          </a:xfrm>
          <a:prstGeom prst="rect">
            <a:avLst/>
          </a:prstGeom>
          <a:noFill/>
        </p:spPr>
        <p:txBody>
          <a:bodyPr wrap="square">
            <a:spAutoFit/>
          </a:bodyPr>
          <a:lstStyle/>
          <a:p>
            <a:pPr>
              <a:spcAft>
                <a:spcPts val="400"/>
              </a:spcAft>
            </a:pPr>
            <a:r>
              <a:rPr lang="en-US" sz="1100">
                <a:solidFill>
                  <a:srgbClr val="BBBBBB"/>
                </a:solidFill>
                <a:latin typeface="Calibri"/>
              </a:rPr>
              <a:t>A plain text file you drop into your project folder that tells Claude </a:t>
            </a:r>
            <a:r>
              <a:rPr lang="en-US" sz="1100" b="1">
                <a:solidFill>
                  <a:srgbClr val="BBBBBB"/>
                </a:solidFill>
                <a:latin typeface="Calibri"/>
              </a:rPr>
              <a:t>who you are, what your data looks like, and how you want things done</a:t>
            </a:r>
            <a:r>
              <a:rPr lang="en-US" sz="1100">
                <a:solidFill>
                  <a:srgbClr val="BBBBBB"/>
                </a:solidFill>
                <a:latin typeface="Calibri"/>
              </a:rPr>
              <a:t>.  Claude reads it automatically at the start of every session.</a:t>
            </a:r>
          </a:p>
          <a:p>
            <a:pPr>
              <a:spcAft>
                <a:spcPts val="300"/>
              </a:spcAft>
            </a:pPr>
            <a:r>
              <a:rPr lang="en-US" sz="1100">
                <a:solidFill>
                  <a:srgbClr val="BBBBBB"/>
                </a:solidFill>
                <a:latin typeface="Calibri"/>
              </a:rPr>
              <a:t>Think of it as a </a:t>
            </a:r>
            <a:r>
              <a:rPr lang="en-US" sz="1100" i="1">
                <a:solidFill>
                  <a:srgbClr val="BBBBBB"/>
                </a:solidFill>
                <a:latin typeface="Calibri"/>
              </a:rPr>
              <a:t>briefing document</a:t>
            </a:r>
            <a:r>
              <a:rPr lang="en-US" sz="1100">
                <a:solidFill>
                  <a:srgbClr val="BBBBBB"/>
                </a:solidFill>
                <a:latin typeface="Calibri"/>
              </a:rPr>
              <a:t> — without it, Claude starts every conversation from scratch.</a:t>
            </a:r>
          </a:p>
        </p:txBody>
      </p:sp>
      <p:sp>
        <p:nvSpPr>
          <p:cNvPr id="8" name="Rectangle 7"/>
          <p:cNvSpPr/>
          <p:nvPr/>
        </p:nvSpPr>
        <p:spPr>
          <a:xfrm>
            <a:off x="731520" y="2950000"/>
            <a:ext cx="5029200" cy="36576"/>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20000"/>
            <a:ext cx="5029200" cy="350000"/>
          </a:xfrm>
          <a:prstGeom prst="rect">
            <a:avLst/>
          </a:prstGeom>
          <a:noFill/>
        </p:spPr>
        <p:txBody>
          <a:bodyPr wrap="square">
            <a:spAutoFit/>
          </a:bodyPr>
          <a:lstStyle/>
          <a:p>
            <a:r>
              <a:rPr lang="en-US" sz="1600" b="1">
                <a:solidFill>
                  <a:srgbClr val="5B8DEF"/>
                </a:solidFill>
                <a:latin typeface="Calibri"/>
              </a:rPr>
              <a:t>Why Does Claude Need One?</a:t>
            </a:r>
          </a:p>
        </p:txBody>
      </p:sp>
      <p:sp>
        <p:nvSpPr>
          <p:cNvPr id="10" name="TextBox 9"/>
          <p:cNvSpPr txBox="1"/>
          <p:nvPr/>
        </p:nvSpPr>
        <p:spPr>
          <a:xfrm>
            <a:off x="731520" y="3400000"/>
            <a:ext cx="5029200" cy="3200000"/>
          </a:xfrm>
          <a:prstGeom prst="rect">
            <a:avLst/>
          </a:prstGeom>
          <a:noFill/>
        </p:spPr>
        <p:txBody>
          <a:bodyPr wrap="square">
            <a:spAutoFit/>
          </a:bodyPr>
          <a:lstStyle/>
          <a:p>
            <a:pPr>
              <a:spcAft>
                <a:spcPts val="600"/>
              </a:spcAft>
            </a:pPr>
            <a:r>
              <a:rPr lang="en-US" sz="1100">
                <a:solidFill>
                  <a:srgbClr val="5B8DEF"/>
                </a:solidFill>
                <a:latin typeface="Calibri"/>
              </a:rPr>
              <a:t>▸ </a:t>
            </a:r>
            <a:r>
              <a:rPr lang="en-US" sz="1100" b="1">
                <a:solidFill>
                  <a:srgbClr val="FFFFFF"/>
                </a:solidFill>
                <a:latin typeface="Calibri"/>
              </a:rPr>
              <a:t>No memory between sessions</a:t>
            </a:r>
            <a:br>
              <a:rPr sz="800"/>
            </a:br>
            <a:r>
              <a:rPr lang="en-US" sz="1000">
                <a:solidFill>
                  <a:srgbClr val="999999"/>
                </a:solidFill>
                <a:latin typeface="Calibri"/>
              </a:rPr>
              <a:t>   Claude doesn't remember yesterday's conversation.  CLAUDE.md gives it persistent context every time.</a:t>
            </a:r>
          </a:p>
          <a:p>
            <a:pPr>
              <a:spcAft>
                <a:spcPts val="600"/>
              </a:spcAft>
            </a:pPr>
            <a:r>
              <a:rPr lang="en-US" sz="1100">
                <a:solidFill>
                  <a:srgbClr val="5B8DEF"/>
                </a:solidFill>
                <a:latin typeface="Calibri"/>
              </a:rPr>
              <a:t>▸ </a:t>
            </a:r>
            <a:r>
              <a:rPr lang="en-US" sz="1100" b="1">
                <a:solidFill>
                  <a:srgbClr val="FFFFFF"/>
                </a:solidFill>
                <a:latin typeface="Calibri"/>
              </a:rPr>
              <a:t>Your data has quirks</a:t>
            </a:r>
            <a:br>
              <a:rPr sz="800"/>
            </a:br>
            <a:r>
              <a:rPr lang="en-US" sz="1000">
                <a:solidFill>
                  <a:srgbClr val="999999"/>
                </a:solidFill>
                <a:latin typeface="Calibri"/>
              </a:rPr>
              <a:t>   Fiscal years, custom column names, currency conventions — Claude can't guess these.  Spell them out once and never repeat yourself.</a:t>
            </a:r>
          </a:p>
          <a:p>
            <a:pPr>
              <a:spcAft>
                <a:spcPts val="600"/>
              </a:spcAft>
            </a:pPr>
            <a:r>
              <a:rPr lang="en-US" sz="1100">
                <a:solidFill>
                  <a:srgbClr val="5B8DEF"/>
                </a:solidFill>
                <a:latin typeface="Calibri"/>
              </a:rPr>
              <a:t>▸ </a:t>
            </a:r>
            <a:r>
              <a:rPr lang="en-US" sz="1100" b="1">
                <a:solidFill>
                  <a:srgbClr val="FFFFFF"/>
                </a:solidFill>
                <a:latin typeface="Calibri"/>
              </a:rPr>
              <a:t>Better output from the first prompt</a:t>
            </a:r>
            <a:br>
              <a:rPr sz="800"/>
            </a:br>
            <a:r>
              <a:rPr lang="en-US" sz="1000">
                <a:solidFill>
                  <a:srgbClr val="999999"/>
                </a:solidFill>
                <a:latin typeface="Calibri"/>
              </a:rPr>
              <a:t>   Instead of spending 3 messages explaining your setup, Claude already knows what 'revenue' means in your world.</a:t>
            </a:r>
          </a:p>
        </p:txBody>
      </p:sp>
      <p:sp>
        <p:nvSpPr>
          <p:cNvPr id="11" name="Rectangle 10"/>
          <p:cNvSpPr/>
          <p:nvPr/>
        </p:nvSpPr>
        <p:spPr>
          <a:xfrm>
            <a:off x="6583680" y="1350000"/>
            <a:ext cx="5029200" cy="36576"/>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420000"/>
            <a:ext cx="5029200" cy="350000"/>
          </a:xfrm>
          <a:prstGeom prst="rect">
            <a:avLst/>
          </a:prstGeom>
          <a:noFill/>
        </p:spPr>
        <p:txBody>
          <a:bodyPr wrap="square">
            <a:spAutoFit/>
          </a:bodyPr>
          <a:lstStyle/>
          <a:p>
            <a:r>
              <a:rPr lang="en-US" sz="1600" b="1">
                <a:solidFill>
                  <a:srgbClr val="9B6EE7"/>
                </a:solidFill>
                <a:latin typeface="Calibri"/>
              </a:rPr>
              <a:t>Guidelines for a Good CLAUDE.md</a:t>
            </a:r>
          </a:p>
        </p:txBody>
      </p:sp>
      <p:sp>
        <p:nvSpPr>
          <p:cNvPr id="13" name="TextBox 12"/>
          <p:cNvSpPr txBox="1"/>
          <p:nvPr/>
        </p:nvSpPr>
        <p:spPr>
          <a:xfrm>
            <a:off x="6583680" y="1800000"/>
            <a:ext cx="5029200" cy="3600000"/>
          </a:xfrm>
          <a:prstGeom prst="rect">
            <a:avLst/>
          </a:prstGeom>
          <a:noFill/>
        </p:spPr>
        <p:txBody>
          <a:bodyPr wrap="square">
            <a:spAutoFit/>
          </a:bodyPr>
          <a:lstStyle/>
          <a:p>
            <a:pPr>
              <a:spcAft>
                <a:spcPts val="550"/>
              </a:spcAft>
            </a:pPr>
            <a:r>
              <a:rPr lang="en-US" sz="1300" b="1">
                <a:solidFill>
                  <a:srgbClr val="9B6EE7"/>
                </a:solidFill>
                <a:latin typeface="Calibri"/>
              </a:rPr>
              <a:t>1</a:t>
            </a:r>
            <a:r>
              <a:rPr lang="en-US" sz="1100" b="1">
                <a:solidFill>
                  <a:srgbClr val="FFFFFF"/>
                </a:solidFill>
                <a:latin typeface="Calibri"/>
              </a:rPr>
              <a:t>  Describe your data schema up front</a:t>
            </a:r>
            <a:br>
              <a:rPr sz="800"/>
            </a:br>
            <a:r>
              <a:rPr lang="en-US" sz="950">
                <a:solidFill>
                  <a:srgbClr val="999999"/>
                </a:solidFill>
                <a:latin typeface="Calibri"/>
              </a:rPr>
              <a:t>    List every file Claude will work with — column names, types, what each table represents, and how they join together.</a:t>
            </a:r>
          </a:p>
          <a:p>
            <a:pPr>
              <a:spcAft>
                <a:spcPts val="550"/>
              </a:spcAft>
            </a:pPr>
            <a:r>
              <a:rPr lang="en-US" sz="1300" b="1">
                <a:solidFill>
                  <a:srgbClr val="9B6EE7"/>
                </a:solidFill>
                <a:latin typeface="Calibri"/>
              </a:rPr>
              <a:t>2</a:t>
            </a:r>
            <a:r>
              <a:rPr lang="en-US" sz="1100" b="1">
                <a:solidFill>
                  <a:srgbClr val="FFFFFF"/>
                </a:solidFill>
                <a:latin typeface="Calibri"/>
              </a:rPr>
              <a:t>  State your business rules</a:t>
            </a:r>
            <a:br>
              <a:rPr sz="800"/>
            </a:br>
            <a:r>
              <a:rPr lang="en-US" sz="950">
                <a:solidFill>
                  <a:srgbClr val="999999"/>
                </a:solidFill>
                <a:latin typeface="Calibri"/>
              </a:rPr>
              <a:t>    Definitions that aren't obvious: "Fiscal year starts April 1," "Revenue = gross minus refunds," "Active user = logged in within 30 days."</a:t>
            </a:r>
          </a:p>
          <a:p>
            <a:pPr>
              <a:spcAft>
                <a:spcPts val="550"/>
              </a:spcAft>
            </a:pPr>
            <a:r>
              <a:rPr lang="en-US" sz="1300" b="1">
                <a:solidFill>
                  <a:srgbClr val="9B6EE7"/>
                </a:solidFill>
                <a:latin typeface="Calibri"/>
              </a:rPr>
              <a:t>3</a:t>
            </a:r>
            <a:r>
              <a:rPr lang="en-US" sz="1100" b="1">
                <a:solidFill>
                  <a:srgbClr val="FFFFFF"/>
                </a:solidFill>
                <a:latin typeface="Calibri"/>
              </a:rPr>
              <a:t>  Set output preferences</a:t>
            </a:r>
            <a:br>
              <a:rPr sz="800"/>
            </a:br>
            <a:r>
              <a:rPr lang="en-US" sz="950">
                <a:solidFill>
                  <a:srgbClr val="999999"/>
                </a:solidFill>
                <a:latin typeface="Calibri"/>
              </a:rPr>
              <a:t>    Preferred chart libraries, date formats, currency, file naming conventions, and where to save outputs.</a:t>
            </a:r>
          </a:p>
          <a:p>
            <a:pPr>
              <a:spcAft>
                <a:spcPts val="550"/>
              </a:spcAft>
            </a:pPr>
            <a:r>
              <a:rPr lang="en-US" sz="1300" b="1">
                <a:solidFill>
                  <a:srgbClr val="9B6EE7"/>
                </a:solidFill>
                <a:latin typeface="Calibri"/>
              </a:rPr>
              <a:t>4</a:t>
            </a:r>
            <a:r>
              <a:rPr lang="en-US" sz="1100" b="1">
                <a:solidFill>
                  <a:srgbClr val="FFFFFF"/>
                </a:solidFill>
                <a:latin typeface="Calibri"/>
              </a:rPr>
              <a:t>  Include a short project summary</a:t>
            </a:r>
            <a:br>
              <a:rPr sz="800"/>
            </a:br>
            <a:r>
              <a:rPr lang="en-US" sz="950">
                <a:solidFill>
                  <a:srgbClr val="999999"/>
                </a:solidFill>
                <a:latin typeface="Calibri"/>
              </a:rPr>
              <a:t>    One paragraph on what this project is, so Claude understands the bigger picture when making judgment calls.</a:t>
            </a:r>
          </a:p>
          <a:p>
            <a:pPr>
              <a:spcAft>
                <a:spcPts val="550"/>
              </a:spcAft>
            </a:pPr>
            <a:r>
              <a:rPr lang="en-US" sz="1300" b="1">
                <a:solidFill>
                  <a:srgbClr val="9B6EE7"/>
                </a:solidFill>
                <a:latin typeface="Calibri"/>
              </a:rPr>
              <a:t>5</a:t>
            </a:r>
            <a:r>
              <a:rPr lang="en-US" sz="1100" b="1">
                <a:solidFill>
                  <a:srgbClr val="FFFFFF"/>
                </a:solidFill>
                <a:latin typeface="Calibri"/>
              </a:rPr>
              <a:t>  Keep it under a page</a:t>
            </a:r>
            <a:br>
              <a:rPr sz="800"/>
            </a:br>
            <a:r>
              <a:rPr lang="en-US" sz="950">
                <a:solidFill>
                  <a:srgbClr val="999999"/>
                </a:solidFill>
                <a:latin typeface="Calibri"/>
              </a:rPr>
              <a:t>    CLAUDE.md is read every session — long files waste context window.  Be concise and cut anything Claude can infer from the data itself.</a:t>
            </a:r>
          </a:p>
        </p:txBody>
      </p:sp>
      <p:sp>
        <p:nvSpPr>
          <p:cNvPr id="14" name="Rectangle 13"/>
          <p:cNvSpPr/>
          <p:nvPr/>
        </p:nvSpPr>
        <p:spPr>
          <a:xfrm>
            <a:off x="6583680" y="5650000"/>
            <a:ext cx="50292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0" y="5686576"/>
            <a:ext cx="5029200" cy="700000"/>
          </a:xfrm>
          <a:prstGeom prst="round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00000" y="5750000"/>
            <a:ext cx="4800000" cy="600000"/>
          </a:xfrm>
          <a:prstGeom prst="rect">
            <a:avLst/>
          </a:prstGeom>
          <a:noFill/>
        </p:spPr>
        <p:txBody>
          <a:bodyPr wrap="square">
            <a:spAutoFit/>
          </a:bodyPr>
          <a:lstStyle/>
          <a:p>
            <a:pPr>
              <a:spcAft>
                <a:spcPts val="300"/>
              </a:spcAft>
            </a:pPr>
            <a:r>
              <a:rPr lang="en-US" sz="1200" b="1">
                <a:solidFill>
                  <a:srgbClr val="D47B2A"/>
                </a:solidFill>
                <a:latin typeface="Calibri"/>
              </a:rPr>
              <a:t>See a Real Example</a:t>
            </a:r>
          </a:p>
          <a:p>
            <a:r>
              <a:rPr lang="en-US" sz="1000">
                <a:solidFill>
                  <a:srgbClr val="FFFFFF"/>
                </a:solidFill>
                <a:latin typeface="Calibri"/>
                <a:hlinkClick r:id="rId2"/>
              </a:rPr>
              <a:t>Awesome Claude Code — curated CLAUDE.md examples</a:t>
            </a:r>
          </a:p>
          <a:p>
            <a:r>
              <a:rPr lang="en-US" sz="850">
                <a:solidFill>
                  <a:srgbClr val="888888"/>
                </a:solidFill>
                <a:latin typeface="Calibri"/>
              </a:rPr>
              <a:t>github.com/hesreallyhim/awesome-claude-code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The Data Analysis Workflow</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1965960" cy="29260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1828800"/>
            <a:ext cx="457200" cy="457200"/>
          </a:xfrm>
          <a:prstGeom prst="ellipse">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1</a:t>
            </a:r>
          </a:p>
        </p:txBody>
      </p:sp>
      <p:sp>
        <p:nvSpPr>
          <p:cNvPr id="6" name="TextBox 5"/>
          <p:cNvSpPr txBox="1"/>
          <p:nvPr/>
        </p:nvSpPr>
        <p:spPr>
          <a:xfrm>
            <a:off x="822960" y="2423160"/>
            <a:ext cx="1783080" cy="365760"/>
          </a:xfrm>
          <a:prstGeom prst="rect">
            <a:avLst/>
          </a:prstGeom>
          <a:noFill/>
        </p:spPr>
        <p:txBody>
          <a:bodyPr wrap="square">
            <a:spAutoFit/>
          </a:bodyPr>
          <a:lstStyle/>
          <a:p>
            <a:pPr algn="l">
              <a:defRPr sz="1700" b="1">
                <a:solidFill>
                  <a:srgbClr val="4EC98B"/>
                </a:solidFill>
                <a:latin typeface="Calibri"/>
              </a:defRPr>
            </a:pPr>
            <a:r>
              <a:t>Load &amp; Explore</a:t>
            </a:r>
          </a:p>
        </p:txBody>
      </p:sp>
      <p:sp>
        <p:nvSpPr>
          <p:cNvPr id="7" name="TextBox 6"/>
          <p:cNvSpPr txBox="1"/>
          <p:nvPr/>
        </p:nvSpPr>
        <p:spPr>
          <a:xfrm>
            <a:off x="822960" y="2926080"/>
            <a:ext cx="1783080" cy="1463040"/>
          </a:xfrm>
          <a:prstGeom prst="rect">
            <a:avLst/>
          </a:prstGeom>
          <a:noFill/>
        </p:spPr>
        <p:txBody>
          <a:bodyPr wrap="square">
            <a:spAutoFit/>
          </a:bodyPr>
          <a:lstStyle/>
          <a:p>
            <a:pPr algn="l">
              <a:defRPr sz="1300" b="0">
                <a:solidFill>
                  <a:srgbClr val="B0B0B8"/>
                </a:solidFill>
                <a:latin typeface="Calibri"/>
              </a:defRPr>
            </a:pPr>
            <a:r>
              <a:t>Ask Claude to read your</a:t>
            </a:r>
            <a:br/>
            <a:r>
              <a:t>data and summarize its</a:t>
            </a:r>
            <a:br/>
            <a:r>
              <a:t>structure, types, and</a:t>
            </a:r>
            <a:br/>
            <a:r>
              <a:t>basic statistics.</a:t>
            </a:r>
          </a:p>
        </p:txBody>
      </p:sp>
      <p:sp>
        <p:nvSpPr>
          <p:cNvPr id="8" name="TextBox 7"/>
          <p:cNvSpPr txBox="1"/>
          <p:nvPr/>
        </p:nvSpPr>
        <p:spPr>
          <a:xfrm>
            <a:off x="2715768" y="2743200"/>
            <a:ext cx="182880" cy="365760"/>
          </a:xfrm>
          <a:prstGeom prst="rect">
            <a:avLst/>
          </a:prstGeom>
          <a:noFill/>
        </p:spPr>
        <p:txBody>
          <a:bodyPr wrap="square">
            <a:spAutoFit/>
          </a:bodyPr>
          <a:lstStyle/>
          <a:p>
            <a:pPr algn="ctr">
              <a:defRPr sz="2000" b="0">
                <a:solidFill>
                  <a:srgbClr val="B0B0B8"/>
                </a:solidFill>
                <a:latin typeface="Calibri"/>
              </a:defRPr>
            </a:pPr>
            <a:r>
              <a:t>→</a:t>
            </a:r>
          </a:p>
        </p:txBody>
      </p:sp>
      <p:sp>
        <p:nvSpPr>
          <p:cNvPr id="9" name="Rounded Rectangle 8"/>
          <p:cNvSpPr/>
          <p:nvPr/>
        </p:nvSpPr>
        <p:spPr>
          <a:xfrm>
            <a:off x="2880360" y="1645920"/>
            <a:ext cx="1965960" cy="29260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971800" y="1828800"/>
            <a:ext cx="457200" cy="457200"/>
          </a:xfrm>
          <a:prstGeom prst="ellipse">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2</a:t>
            </a:r>
          </a:p>
        </p:txBody>
      </p:sp>
      <p:sp>
        <p:nvSpPr>
          <p:cNvPr id="11" name="TextBox 10"/>
          <p:cNvSpPr txBox="1"/>
          <p:nvPr/>
        </p:nvSpPr>
        <p:spPr>
          <a:xfrm>
            <a:off x="2971800" y="2423160"/>
            <a:ext cx="1783080" cy="365760"/>
          </a:xfrm>
          <a:prstGeom prst="rect">
            <a:avLst/>
          </a:prstGeom>
          <a:noFill/>
        </p:spPr>
        <p:txBody>
          <a:bodyPr wrap="square">
            <a:spAutoFit/>
          </a:bodyPr>
          <a:lstStyle/>
          <a:p>
            <a:pPr algn="l">
              <a:defRPr sz="1700" b="1">
                <a:solidFill>
                  <a:srgbClr val="5B8DEF"/>
                </a:solidFill>
                <a:latin typeface="Calibri"/>
              </a:defRPr>
            </a:pPr>
            <a:r>
              <a:t>Clean &amp; Transform</a:t>
            </a:r>
          </a:p>
        </p:txBody>
      </p:sp>
      <p:sp>
        <p:nvSpPr>
          <p:cNvPr id="12" name="TextBox 11"/>
          <p:cNvSpPr txBox="1"/>
          <p:nvPr/>
        </p:nvSpPr>
        <p:spPr>
          <a:xfrm>
            <a:off x="2971800" y="2926080"/>
            <a:ext cx="1783080" cy="1463040"/>
          </a:xfrm>
          <a:prstGeom prst="rect">
            <a:avLst/>
          </a:prstGeom>
          <a:noFill/>
        </p:spPr>
        <p:txBody>
          <a:bodyPr wrap="square">
            <a:spAutoFit/>
          </a:bodyPr>
          <a:lstStyle/>
          <a:p>
            <a:pPr algn="l">
              <a:defRPr sz="1300" b="0">
                <a:solidFill>
                  <a:srgbClr val="B0B0B8"/>
                </a:solidFill>
                <a:latin typeface="Calibri"/>
              </a:defRPr>
            </a:pPr>
            <a:r>
              <a:t>Handle missing values,</a:t>
            </a:r>
            <a:br/>
            <a:r>
              <a:t>fix types, filter rows,</a:t>
            </a:r>
            <a:br/>
            <a:r>
              <a:t>reshape data — all via</a:t>
            </a:r>
            <a:br/>
            <a:r>
              <a:t>natural language.</a:t>
            </a:r>
          </a:p>
        </p:txBody>
      </p:sp>
      <p:sp>
        <p:nvSpPr>
          <p:cNvPr id="13" name="TextBox 12"/>
          <p:cNvSpPr txBox="1"/>
          <p:nvPr/>
        </p:nvSpPr>
        <p:spPr>
          <a:xfrm>
            <a:off x="4864608" y="2743200"/>
            <a:ext cx="182880" cy="365760"/>
          </a:xfrm>
          <a:prstGeom prst="rect">
            <a:avLst/>
          </a:prstGeom>
          <a:noFill/>
        </p:spPr>
        <p:txBody>
          <a:bodyPr wrap="square">
            <a:spAutoFit/>
          </a:bodyPr>
          <a:lstStyle/>
          <a:p>
            <a:pPr algn="ctr">
              <a:defRPr sz="2000" b="0">
                <a:solidFill>
                  <a:srgbClr val="B0B0B8"/>
                </a:solidFill>
                <a:latin typeface="Calibri"/>
              </a:defRPr>
            </a:pPr>
            <a:r>
              <a:t>→</a:t>
            </a:r>
          </a:p>
        </p:txBody>
      </p:sp>
      <p:sp>
        <p:nvSpPr>
          <p:cNvPr id="14" name="Rounded Rectangle 13"/>
          <p:cNvSpPr/>
          <p:nvPr/>
        </p:nvSpPr>
        <p:spPr>
          <a:xfrm>
            <a:off x="5029200" y="1645920"/>
            <a:ext cx="1965960" cy="29260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120640" y="1828800"/>
            <a:ext cx="457200" cy="457200"/>
          </a:xfrm>
          <a:prstGeom prst="ellipse">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3</a:t>
            </a:r>
          </a:p>
        </p:txBody>
      </p:sp>
      <p:sp>
        <p:nvSpPr>
          <p:cNvPr id="16" name="TextBox 15"/>
          <p:cNvSpPr txBox="1"/>
          <p:nvPr/>
        </p:nvSpPr>
        <p:spPr>
          <a:xfrm>
            <a:off x="5120640" y="2423160"/>
            <a:ext cx="1783080" cy="365760"/>
          </a:xfrm>
          <a:prstGeom prst="rect">
            <a:avLst/>
          </a:prstGeom>
          <a:noFill/>
        </p:spPr>
        <p:txBody>
          <a:bodyPr wrap="square">
            <a:spAutoFit/>
          </a:bodyPr>
          <a:lstStyle/>
          <a:p>
            <a:pPr algn="l">
              <a:defRPr sz="1700" b="1">
                <a:solidFill>
                  <a:srgbClr val="9B6EE7"/>
                </a:solidFill>
                <a:latin typeface="Calibri"/>
              </a:defRPr>
            </a:pPr>
            <a:r>
              <a:t>Analyze</a:t>
            </a:r>
          </a:p>
        </p:txBody>
      </p:sp>
      <p:sp>
        <p:nvSpPr>
          <p:cNvPr id="17" name="TextBox 16"/>
          <p:cNvSpPr txBox="1"/>
          <p:nvPr/>
        </p:nvSpPr>
        <p:spPr>
          <a:xfrm>
            <a:off x="5120640" y="2926080"/>
            <a:ext cx="1783080" cy="1463040"/>
          </a:xfrm>
          <a:prstGeom prst="rect">
            <a:avLst/>
          </a:prstGeom>
          <a:noFill/>
        </p:spPr>
        <p:txBody>
          <a:bodyPr wrap="square">
            <a:spAutoFit/>
          </a:bodyPr>
          <a:lstStyle/>
          <a:p>
            <a:pPr algn="l">
              <a:defRPr sz="1300" b="0">
                <a:solidFill>
                  <a:srgbClr val="B0B0B8"/>
                </a:solidFill>
                <a:latin typeface="Calibri"/>
              </a:defRPr>
            </a:pPr>
            <a:r>
              <a:t>Run statistical tests,</a:t>
            </a:r>
            <a:br/>
            <a:r>
              <a:t>build models, calculate</a:t>
            </a:r>
            <a:br/>
            <a:r>
              <a:t>metrics, or write custom</a:t>
            </a:r>
            <a:br/>
            <a:r>
              <a:t>analysis scripts.</a:t>
            </a:r>
          </a:p>
        </p:txBody>
      </p:sp>
      <p:sp>
        <p:nvSpPr>
          <p:cNvPr id="18" name="TextBox 17"/>
          <p:cNvSpPr txBox="1"/>
          <p:nvPr/>
        </p:nvSpPr>
        <p:spPr>
          <a:xfrm>
            <a:off x="7013448" y="2743200"/>
            <a:ext cx="182880" cy="365760"/>
          </a:xfrm>
          <a:prstGeom prst="rect">
            <a:avLst/>
          </a:prstGeom>
          <a:noFill/>
        </p:spPr>
        <p:txBody>
          <a:bodyPr wrap="square">
            <a:spAutoFit/>
          </a:bodyPr>
          <a:lstStyle/>
          <a:p>
            <a:pPr algn="ctr">
              <a:defRPr sz="2000" b="0">
                <a:solidFill>
                  <a:srgbClr val="B0B0B8"/>
                </a:solidFill>
                <a:latin typeface="Calibri"/>
              </a:defRPr>
            </a:pPr>
            <a:r>
              <a:t>→</a:t>
            </a:r>
          </a:p>
        </p:txBody>
      </p:sp>
      <p:sp>
        <p:nvSpPr>
          <p:cNvPr id="19" name="Rounded Rectangle 18"/>
          <p:cNvSpPr/>
          <p:nvPr/>
        </p:nvSpPr>
        <p:spPr>
          <a:xfrm>
            <a:off x="7178040" y="1645920"/>
            <a:ext cx="1965960" cy="29260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69480" y="1828800"/>
            <a:ext cx="457200" cy="457200"/>
          </a:xfrm>
          <a:prstGeom prst="ellipse">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4</a:t>
            </a:r>
          </a:p>
        </p:txBody>
      </p:sp>
      <p:sp>
        <p:nvSpPr>
          <p:cNvPr id="21" name="TextBox 20"/>
          <p:cNvSpPr txBox="1"/>
          <p:nvPr/>
        </p:nvSpPr>
        <p:spPr>
          <a:xfrm>
            <a:off x="7269480" y="2423160"/>
            <a:ext cx="1783080" cy="365760"/>
          </a:xfrm>
          <a:prstGeom prst="rect">
            <a:avLst/>
          </a:prstGeom>
          <a:noFill/>
        </p:spPr>
        <p:txBody>
          <a:bodyPr wrap="square">
            <a:spAutoFit/>
          </a:bodyPr>
          <a:lstStyle/>
          <a:p>
            <a:pPr algn="l">
              <a:defRPr sz="1700" b="1">
                <a:solidFill>
                  <a:srgbClr val="D47B2A"/>
                </a:solidFill>
                <a:latin typeface="Calibri"/>
              </a:defRPr>
            </a:pPr>
            <a:r>
              <a:t>Visualize</a:t>
            </a:r>
          </a:p>
        </p:txBody>
      </p:sp>
      <p:sp>
        <p:nvSpPr>
          <p:cNvPr id="22" name="TextBox 21"/>
          <p:cNvSpPr txBox="1"/>
          <p:nvPr/>
        </p:nvSpPr>
        <p:spPr>
          <a:xfrm>
            <a:off x="7269480" y="2926080"/>
            <a:ext cx="1783080" cy="1463040"/>
          </a:xfrm>
          <a:prstGeom prst="rect">
            <a:avLst/>
          </a:prstGeom>
          <a:noFill/>
        </p:spPr>
        <p:txBody>
          <a:bodyPr wrap="square">
            <a:spAutoFit/>
          </a:bodyPr>
          <a:lstStyle/>
          <a:p>
            <a:pPr algn="l">
              <a:defRPr sz="1300" b="0">
                <a:solidFill>
                  <a:srgbClr val="B0B0B8"/>
                </a:solidFill>
                <a:latin typeface="Calibri"/>
              </a:defRPr>
            </a:pPr>
            <a:r>
              <a:t>Generate matplotlib,</a:t>
            </a:r>
            <a:br/>
            <a:r>
              <a:t>seaborn, or plotly charts.</a:t>
            </a:r>
            <a:br/>
            <a:r>
              <a:t>Export as PNG, SVG, or</a:t>
            </a:r>
            <a:br/>
            <a:r>
              <a:t>interactive HTML.</a:t>
            </a:r>
          </a:p>
        </p:txBody>
      </p:sp>
      <p:sp>
        <p:nvSpPr>
          <p:cNvPr id="23" name="TextBox 22"/>
          <p:cNvSpPr txBox="1"/>
          <p:nvPr/>
        </p:nvSpPr>
        <p:spPr>
          <a:xfrm>
            <a:off x="9162288" y="2743200"/>
            <a:ext cx="182880" cy="365760"/>
          </a:xfrm>
          <a:prstGeom prst="rect">
            <a:avLst/>
          </a:prstGeom>
          <a:noFill/>
        </p:spPr>
        <p:txBody>
          <a:bodyPr wrap="square">
            <a:spAutoFit/>
          </a:bodyPr>
          <a:lstStyle/>
          <a:p>
            <a:pPr algn="ctr">
              <a:defRPr sz="2000" b="0">
                <a:solidFill>
                  <a:srgbClr val="B0B0B8"/>
                </a:solidFill>
                <a:latin typeface="Calibri"/>
              </a:defRPr>
            </a:pPr>
            <a:r>
              <a:t>→</a:t>
            </a:r>
          </a:p>
        </p:txBody>
      </p:sp>
      <p:sp>
        <p:nvSpPr>
          <p:cNvPr id="24" name="Rounded Rectangle 23"/>
          <p:cNvSpPr/>
          <p:nvPr/>
        </p:nvSpPr>
        <p:spPr>
          <a:xfrm>
            <a:off x="9326880" y="1645920"/>
            <a:ext cx="1965960" cy="29260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418320" y="1828800"/>
            <a:ext cx="457200" cy="457200"/>
          </a:xfrm>
          <a:prstGeom prst="ellipse">
            <a:avLst/>
          </a:prstGeom>
          <a:solidFill>
            <a:srgbClr val="E05E7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200"/>
              </a:spcBef>
              <a:defRPr sz="1600" b="1">
                <a:solidFill>
                  <a:srgbClr val="FFFFFF"/>
                </a:solidFill>
                <a:latin typeface="Calibri"/>
              </a:defRPr>
            </a:pPr>
            <a:r>
              <a:t>5</a:t>
            </a:r>
          </a:p>
        </p:txBody>
      </p:sp>
      <p:sp>
        <p:nvSpPr>
          <p:cNvPr id="26" name="TextBox 25"/>
          <p:cNvSpPr txBox="1"/>
          <p:nvPr/>
        </p:nvSpPr>
        <p:spPr>
          <a:xfrm>
            <a:off x="9418320" y="2423160"/>
            <a:ext cx="1783080" cy="365760"/>
          </a:xfrm>
          <a:prstGeom prst="rect">
            <a:avLst/>
          </a:prstGeom>
          <a:noFill/>
        </p:spPr>
        <p:txBody>
          <a:bodyPr wrap="square">
            <a:spAutoFit/>
          </a:bodyPr>
          <a:lstStyle/>
          <a:p>
            <a:pPr algn="l">
              <a:defRPr sz="1700" b="1">
                <a:solidFill>
                  <a:srgbClr val="E05E7E"/>
                </a:solidFill>
                <a:latin typeface="Calibri"/>
              </a:defRPr>
            </a:pPr>
            <a:r>
              <a:t>Export &amp; Report</a:t>
            </a:r>
          </a:p>
        </p:txBody>
      </p:sp>
      <p:sp>
        <p:nvSpPr>
          <p:cNvPr id="27" name="TextBox 26"/>
          <p:cNvSpPr txBox="1"/>
          <p:nvPr/>
        </p:nvSpPr>
        <p:spPr>
          <a:xfrm>
            <a:off x="9418320" y="2926080"/>
            <a:ext cx="1783080" cy="1463040"/>
          </a:xfrm>
          <a:prstGeom prst="rect">
            <a:avLst/>
          </a:prstGeom>
          <a:noFill/>
        </p:spPr>
        <p:txBody>
          <a:bodyPr wrap="square">
            <a:spAutoFit/>
          </a:bodyPr>
          <a:lstStyle/>
          <a:p>
            <a:pPr algn="l">
              <a:defRPr sz="1300" b="0">
                <a:solidFill>
                  <a:srgbClr val="B0B0B8"/>
                </a:solidFill>
                <a:latin typeface="Calibri"/>
              </a:defRPr>
            </a:pPr>
            <a:r>
              <a:t>Save results to CSV,</a:t>
            </a:r>
            <a:br/>
            <a:r>
              <a:t>Excel, or generate a</a:t>
            </a:r>
            <a:br/>
            <a:r>
              <a:t>formatted report with</a:t>
            </a:r>
            <a:br/>
            <a:r>
              <a:t>findings.</a:t>
            </a:r>
          </a:p>
        </p:txBody>
      </p:sp>
      <p:sp>
        <p:nvSpPr>
          <p:cNvPr id="28" name="TextBox 27"/>
          <p:cNvSpPr txBox="1"/>
          <p:nvPr/>
        </p:nvSpPr>
        <p:spPr>
          <a:xfrm>
            <a:off x="731520" y="5029200"/>
            <a:ext cx="10728655" cy="731520"/>
          </a:xfrm>
          <a:prstGeom prst="rect">
            <a:avLst/>
          </a:prstGeom>
          <a:noFill/>
        </p:spPr>
        <p:txBody>
          <a:bodyPr wrap="square">
            <a:spAutoFit/>
          </a:bodyPr>
          <a:lstStyle/>
          <a:p>
            <a:pPr algn="ctr">
              <a:defRPr sz="1500" b="0">
                <a:solidFill>
                  <a:srgbClr val="B0B0B8"/>
                </a:solidFill>
                <a:latin typeface="Calibri"/>
              </a:defRPr>
            </a:pPr>
            <a:r>
              <a:t>Each step is conversational — ask follow-up questions, refine your approach, and iterate without leaving the terminal.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Example Prompts for Data Analysis</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45720" cy="320040"/>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2743200" cy="320040"/>
          </a:xfrm>
          <a:prstGeom prst="rect">
            <a:avLst/>
          </a:prstGeom>
          <a:noFill/>
        </p:spPr>
        <p:txBody>
          <a:bodyPr wrap="square">
            <a:spAutoFit/>
          </a:bodyPr>
          <a:lstStyle/>
          <a:p>
            <a:pPr algn="l">
              <a:defRPr sz="1800" b="1">
                <a:solidFill>
                  <a:srgbClr val="4EC98B"/>
                </a:solidFill>
                <a:latin typeface="Calibri"/>
              </a:defRPr>
            </a:pPr>
            <a:r>
              <a:t>Exploration</a:t>
            </a:r>
          </a:p>
        </p:txBody>
      </p:sp>
      <p:sp>
        <p:nvSpPr>
          <p:cNvPr id="6" name="TextBox 5"/>
          <p:cNvSpPr txBox="1"/>
          <p:nvPr/>
        </p:nvSpPr>
        <p:spPr>
          <a:xfrm>
            <a:off x="914400" y="1920240"/>
            <a:ext cx="4754880" cy="594360"/>
          </a:xfrm>
          <a:prstGeom prst="rect">
            <a:avLst/>
          </a:prstGeom>
          <a:noFill/>
        </p:spPr>
        <p:txBody>
          <a:bodyPr wrap="square">
            <a:spAutoFit/>
          </a:bodyPr>
          <a:lstStyle/>
          <a:p>
            <a:pPr algn="l">
              <a:defRPr sz="1300" b="0">
                <a:solidFill>
                  <a:srgbClr val="E0E0E4"/>
                </a:solidFill>
                <a:latin typeface="Consolas"/>
              </a:defRPr>
            </a:pPr>
            <a:r>
              <a:t>"Read sales_data.csv and give me a summary of the columns, types, and any data quality issues"</a:t>
            </a:r>
          </a:p>
        </p:txBody>
      </p:sp>
      <p:sp>
        <p:nvSpPr>
          <p:cNvPr id="7" name="TextBox 6"/>
          <p:cNvSpPr txBox="1"/>
          <p:nvPr/>
        </p:nvSpPr>
        <p:spPr>
          <a:xfrm>
            <a:off x="914400" y="2606040"/>
            <a:ext cx="4754880" cy="594360"/>
          </a:xfrm>
          <a:prstGeom prst="rect">
            <a:avLst/>
          </a:prstGeom>
          <a:noFill/>
        </p:spPr>
        <p:txBody>
          <a:bodyPr wrap="square">
            <a:spAutoFit/>
          </a:bodyPr>
          <a:lstStyle/>
          <a:p>
            <a:pPr algn="l">
              <a:defRPr sz="1300" b="0">
                <a:solidFill>
                  <a:srgbClr val="E0E0E4"/>
                </a:solidFill>
                <a:latin typeface="Consolas"/>
              </a:defRPr>
            </a:pPr>
            <a:r>
              <a:t>"How many unique customers do we have? What's the distribution of order values?"</a:t>
            </a:r>
          </a:p>
        </p:txBody>
      </p:sp>
      <p:sp>
        <p:nvSpPr>
          <p:cNvPr id="8" name="Rectangle 7"/>
          <p:cNvSpPr/>
          <p:nvPr/>
        </p:nvSpPr>
        <p:spPr>
          <a:xfrm>
            <a:off x="731520" y="3520440"/>
            <a:ext cx="45720" cy="32004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520440"/>
            <a:ext cx="2743200" cy="320040"/>
          </a:xfrm>
          <a:prstGeom prst="rect">
            <a:avLst/>
          </a:prstGeom>
          <a:noFill/>
        </p:spPr>
        <p:txBody>
          <a:bodyPr wrap="square">
            <a:spAutoFit/>
          </a:bodyPr>
          <a:lstStyle/>
          <a:p>
            <a:pPr algn="l">
              <a:defRPr sz="1800" b="1">
                <a:solidFill>
                  <a:srgbClr val="5B8DEF"/>
                </a:solidFill>
                <a:latin typeface="Calibri"/>
              </a:defRPr>
            </a:pPr>
            <a:r>
              <a:t>Cleaning</a:t>
            </a:r>
          </a:p>
        </p:txBody>
      </p:sp>
      <p:sp>
        <p:nvSpPr>
          <p:cNvPr id="10" name="TextBox 9"/>
          <p:cNvSpPr txBox="1"/>
          <p:nvPr/>
        </p:nvSpPr>
        <p:spPr>
          <a:xfrm>
            <a:off x="914400" y="3977640"/>
            <a:ext cx="4754880" cy="594360"/>
          </a:xfrm>
          <a:prstGeom prst="rect">
            <a:avLst/>
          </a:prstGeom>
          <a:noFill/>
        </p:spPr>
        <p:txBody>
          <a:bodyPr wrap="square">
            <a:spAutoFit/>
          </a:bodyPr>
          <a:lstStyle/>
          <a:p>
            <a:pPr algn="l">
              <a:defRPr sz="1300" b="0">
                <a:solidFill>
                  <a:srgbClr val="E0E0E4"/>
                </a:solidFill>
                <a:latin typeface="Consolas"/>
              </a:defRPr>
            </a:pPr>
            <a:r>
              <a:t>"Drop rows where revenue is negative, fill missing dates with the previous row's date"</a:t>
            </a:r>
          </a:p>
        </p:txBody>
      </p:sp>
      <p:sp>
        <p:nvSpPr>
          <p:cNvPr id="11" name="TextBox 10"/>
          <p:cNvSpPr txBox="1"/>
          <p:nvPr/>
        </p:nvSpPr>
        <p:spPr>
          <a:xfrm>
            <a:off x="914400" y="4663440"/>
            <a:ext cx="4754880" cy="594360"/>
          </a:xfrm>
          <a:prstGeom prst="rect">
            <a:avLst/>
          </a:prstGeom>
          <a:noFill/>
        </p:spPr>
        <p:txBody>
          <a:bodyPr wrap="square">
            <a:spAutoFit/>
          </a:bodyPr>
          <a:lstStyle/>
          <a:p>
            <a:pPr algn="l">
              <a:defRPr sz="1300" b="0">
                <a:solidFill>
                  <a:srgbClr val="E0E0E4"/>
                </a:solidFill>
                <a:latin typeface="Consolas"/>
              </a:defRPr>
            </a:pPr>
            <a:r>
              <a:t>"Standardize the country column — map all variations to ISO country codes"</a:t>
            </a:r>
          </a:p>
        </p:txBody>
      </p:sp>
      <p:sp>
        <p:nvSpPr>
          <p:cNvPr id="12" name="Rectangle 11"/>
          <p:cNvSpPr/>
          <p:nvPr/>
        </p:nvSpPr>
        <p:spPr>
          <a:xfrm>
            <a:off x="6400800" y="1463040"/>
            <a:ext cx="45720" cy="320040"/>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1463040"/>
            <a:ext cx="2743200" cy="320040"/>
          </a:xfrm>
          <a:prstGeom prst="rect">
            <a:avLst/>
          </a:prstGeom>
          <a:noFill/>
        </p:spPr>
        <p:txBody>
          <a:bodyPr wrap="square">
            <a:spAutoFit/>
          </a:bodyPr>
          <a:lstStyle/>
          <a:p>
            <a:pPr algn="l">
              <a:defRPr sz="1800" b="1">
                <a:solidFill>
                  <a:srgbClr val="9B6EE7"/>
                </a:solidFill>
                <a:latin typeface="Calibri"/>
              </a:defRPr>
            </a:pPr>
            <a:r>
              <a:t>Analysis</a:t>
            </a:r>
          </a:p>
        </p:txBody>
      </p:sp>
      <p:sp>
        <p:nvSpPr>
          <p:cNvPr id="14" name="TextBox 13"/>
          <p:cNvSpPr txBox="1"/>
          <p:nvPr/>
        </p:nvSpPr>
        <p:spPr>
          <a:xfrm>
            <a:off x="6583680" y="1920240"/>
            <a:ext cx="4754880" cy="594360"/>
          </a:xfrm>
          <a:prstGeom prst="rect">
            <a:avLst/>
          </a:prstGeom>
          <a:noFill/>
        </p:spPr>
        <p:txBody>
          <a:bodyPr wrap="square">
            <a:spAutoFit/>
          </a:bodyPr>
          <a:lstStyle/>
          <a:p>
            <a:pPr algn="l">
              <a:defRPr sz="1300" b="0">
                <a:solidFill>
                  <a:srgbClr val="E0E0E4"/>
                </a:solidFill>
                <a:latin typeface="Consolas"/>
              </a:defRPr>
            </a:pPr>
            <a:r>
              <a:t>"Calculate month-over-month revenue growth and flag any months with &gt;20% decline"</a:t>
            </a:r>
          </a:p>
        </p:txBody>
      </p:sp>
      <p:sp>
        <p:nvSpPr>
          <p:cNvPr id="15" name="TextBox 14"/>
          <p:cNvSpPr txBox="1"/>
          <p:nvPr/>
        </p:nvSpPr>
        <p:spPr>
          <a:xfrm>
            <a:off x="6583680" y="2606040"/>
            <a:ext cx="4754880" cy="594360"/>
          </a:xfrm>
          <a:prstGeom prst="rect">
            <a:avLst/>
          </a:prstGeom>
          <a:noFill/>
        </p:spPr>
        <p:txBody>
          <a:bodyPr wrap="square">
            <a:spAutoFit/>
          </a:bodyPr>
          <a:lstStyle/>
          <a:p>
            <a:pPr algn="l">
              <a:defRPr sz="1300" b="0">
                <a:solidFill>
                  <a:srgbClr val="E0E0E4"/>
                </a:solidFill>
                <a:latin typeface="Consolas"/>
              </a:defRPr>
            </a:pPr>
            <a:r>
              <a:t>"Run a cohort retention analysis grouped by signup quarter"</a:t>
            </a:r>
          </a:p>
        </p:txBody>
      </p:sp>
      <p:sp>
        <p:nvSpPr>
          <p:cNvPr id="16" name="Rectangle 15"/>
          <p:cNvSpPr/>
          <p:nvPr/>
        </p:nvSpPr>
        <p:spPr>
          <a:xfrm>
            <a:off x="6400800" y="3520440"/>
            <a:ext cx="45720" cy="320040"/>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3520440"/>
            <a:ext cx="2743200" cy="320040"/>
          </a:xfrm>
          <a:prstGeom prst="rect">
            <a:avLst/>
          </a:prstGeom>
          <a:noFill/>
        </p:spPr>
        <p:txBody>
          <a:bodyPr wrap="square">
            <a:spAutoFit/>
          </a:bodyPr>
          <a:lstStyle/>
          <a:p>
            <a:pPr algn="l">
              <a:defRPr sz="1800" b="1">
                <a:solidFill>
                  <a:srgbClr val="D47B2A"/>
                </a:solidFill>
                <a:latin typeface="Calibri"/>
              </a:defRPr>
            </a:pPr>
            <a:r>
              <a:t>Visualization</a:t>
            </a:r>
          </a:p>
        </p:txBody>
      </p:sp>
      <p:sp>
        <p:nvSpPr>
          <p:cNvPr id="18" name="TextBox 17"/>
          <p:cNvSpPr txBox="1"/>
          <p:nvPr/>
        </p:nvSpPr>
        <p:spPr>
          <a:xfrm>
            <a:off x="6583680" y="3977640"/>
            <a:ext cx="4754880" cy="594360"/>
          </a:xfrm>
          <a:prstGeom prst="rect">
            <a:avLst/>
          </a:prstGeom>
          <a:noFill/>
        </p:spPr>
        <p:txBody>
          <a:bodyPr wrap="square">
            <a:spAutoFit/>
          </a:bodyPr>
          <a:lstStyle/>
          <a:p>
            <a:pPr algn="l">
              <a:defRPr sz="1300" b="0">
                <a:solidFill>
                  <a:srgbClr val="E0E0E4"/>
                </a:solidFill>
                <a:latin typeface="Consolas"/>
              </a:defRPr>
            </a:pPr>
            <a:r>
              <a:t>"Create a line chart of monthly revenue with a 3-month moving average overlay"</a:t>
            </a:r>
          </a:p>
        </p:txBody>
      </p:sp>
      <p:sp>
        <p:nvSpPr>
          <p:cNvPr id="19" name="TextBox 18"/>
          <p:cNvSpPr txBox="1"/>
          <p:nvPr/>
        </p:nvSpPr>
        <p:spPr>
          <a:xfrm>
            <a:off x="6583680" y="4663440"/>
            <a:ext cx="4754880" cy="594360"/>
          </a:xfrm>
          <a:prstGeom prst="rect">
            <a:avLst/>
          </a:prstGeom>
          <a:noFill/>
        </p:spPr>
        <p:txBody>
          <a:bodyPr wrap="square">
            <a:spAutoFit/>
          </a:bodyPr>
          <a:lstStyle/>
          <a:p>
            <a:pPr algn="l">
              <a:defRPr sz="1300" b="0">
                <a:solidFill>
                  <a:srgbClr val="E0E0E4"/>
                </a:solidFill>
                <a:latin typeface="Consolas"/>
              </a:defRPr>
            </a:pPr>
            <a:r>
              <a:t>"Build a heatmap of feature correlations and save it as correlation_matrix.png"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Python + Claude Code</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728655" cy="548640"/>
          </a:xfrm>
          <a:prstGeom prst="rect">
            <a:avLst/>
          </a:prstGeom>
          <a:noFill/>
        </p:spPr>
        <p:txBody>
          <a:bodyPr wrap="square">
            <a:spAutoFit/>
          </a:bodyPr>
          <a:lstStyle/>
          <a:p>
            <a:pPr algn="l">
              <a:defRPr sz="1600" b="0">
                <a:solidFill>
                  <a:srgbClr val="E0E0E4"/>
                </a:solidFill>
                <a:latin typeface="Calibri"/>
              </a:defRPr>
            </a:pPr>
            <a:r>
              <a:t>Claude Code writes and executes Python scripts directly. It has full access to your installed packages — pandas, numpy, scikit-learn, matplotlib, and more.</a:t>
            </a:r>
          </a:p>
        </p:txBody>
      </p:sp>
      <p:sp>
        <p:nvSpPr>
          <p:cNvPr id="5" name="TextBox 4"/>
          <p:cNvSpPr txBox="1"/>
          <p:nvPr/>
        </p:nvSpPr>
        <p:spPr>
          <a:xfrm>
            <a:off x="731520" y="2286000"/>
            <a:ext cx="5029200" cy="365760"/>
          </a:xfrm>
          <a:prstGeom prst="rect">
            <a:avLst/>
          </a:prstGeom>
          <a:noFill/>
        </p:spPr>
        <p:txBody>
          <a:bodyPr wrap="square">
            <a:spAutoFit/>
          </a:bodyPr>
          <a:lstStyle/>
          <a:p>
            <a:pPr algn="l">
              <a:defRPr sz="1800" b="1">
                <a:solidFill>
                  <a:srgbClr val="D47B2A"/>
                </a:solidFill>
                <a:latin typeface="Calibri"/>
              </a:defRPr>
            </a:pPr>
            <a:r>
              <a:t>Example Interaction</a:t>
            </a:r>
          </a:p>
        </p:txBody>
      </p:sp>
      <p:sp>
        <p:nvSpPr>
          <p:cNvPr id="6" name="Rounded Rectangle 5"/>
          <p:cNvSpPr/>
          <p:nvPr/>
        </p:nvSpPr>
        <p:spPr>
          <a:xfrm>
            <a:off x="731520" y="2743200"/>
            <a:ext cx="5303520" cy="347472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200">
                <a:solidFill>
                  <a:srgbClr val="E0E0E4"/>
                </a:solidFill>
                <a:latin typeface="Consolas"/>
              </a:defRPr>
            </a:pPr>
            <a:r>
              <a:t>You: "Load the parquet file in /data and show me</a:t>
            </a:r>
          </a:p>
          <a:p>
            <a:pPr>
              <a:spcAft>
                <a:spcPts val="200"/>
              </a:spcAft>
              <a:defRPr sz="1200">
                <a:solidFill>
                  <a:srgbClr val="E0E0E4"/>
                </a:solidFill>
                <a:latin typeface="Consolas"/>
              </a:defRPr>
            </a:pPr>
            <a:r>
              <a:t>     the top 10 customers by lifetime value"</a:t>
            </a:r>
          </a:p>
          <a:p>
            <a:pPr>
              <a:spcAft>
                <a:spcPts val="200"/>
              </a:spcAft>
              <a:defRPr sz="1200">
                <a:solidFill>
                  <a:srgbClr val="E0E0E4"/>
                </a:solidFill>
                <a:latin typeface="Consolas"/>
              </a:defRPr>
            </a:pPr>
            <a:endParaRPr/>
          </a:p>
          <a:p>
            <a:pPr>
              <a:spcAft>
                <a:spcPts val="200"/>
              </a:spcAft>
              <a:defRPr sz="1200">
                <a:solidFill>
                  <a:srgbClr val="E0E0E4"/>
                </a:solidFill>
                <a:latin typeface="Consolas"/>
              </a:defRPr>
            </a:pPr>
            <a:r>
              <a:t>Claude: Reads the file, writes a pandas script,</a:t>
            </a:r>
          </a:p>
          <a:p>
            <a:pPr>
              <a:spcAft>
                <a:spcPts val="200"/>
              </a:spcAft>
              <a:defRPr sz="1200">
                <a:solidFill>
                  <a:srgbClr val="E0E0E4"/>
                </a:solidFill>
                <a:latin typeface="Consolas"/>
              </a:defRPr>
            </a:pPr>
            <a:r>
              <a:t>        executes it, and shows results:</a:t>
            </a:r>
          </a:p>
          <a:p>
            <a:pPr>
              <a:spcAft>
                <a:spcPts val="200"/>
              </a:spcAft>
              <a:defRPr sz="1200">
                <a:solidFill>
                  <a:srgbClr val="E0E0E4"/>
                </a:solidFill>
                <a:latin typeface="Consolas"/>
              </a:defRPr>
            </a:pPr>
            <a:endParaRPr/>
          </a:p>
          <a:p>
            <a:pPr>
              <a:spcAft>
                <a:spcPts val="200"/>
              </a:spcAft>
              <a:defRPr sz="1200">
                <a:solidFill>
                  <a:srgbClr val="E0E0E4"/>
                </a:solidFill>
                <a:latin typeface="Consolas"/>
              </a:defRPr>
            </a:pPr>
            <a:r>
              <a:t>┌────────────┬──────────┬───────────┐</a:t>
            </a:r>
          </a:p>
          <a:p>
            <a:pPr>
              <a:spcAft>
                <a:spcPts val="200"/>
              </a:spcAft>
              <a:defRPr sz="1200">
                <a:solidFill>
                  <a:srgbClr val="E0E0E4"/>
                </a:solidFill>
                <a:latin typeface="Consolas"/>
              </a:defRPr>
            </a:pPr>
            <a:r>
              <a:t>│ customer   │ orders   │ LTV ($)   │</a:t>
            </a:r>
          </a:p>
          <a:p>
            <a:pPr>
              <a:spcAft>
                <a:spcPts val="200"/>
              </a:spcAft>
              <a:defRPr sz="1200">
                <a:solidFill>
                  <a:srgbClr val="E0E0E4"/>
                </a:solidFill>
                <a:latin typeface="Consolas"/>
              </a:defRPr>
            </a:pPr>
            <a:r>
              <a:t>├────────────┼──────────┼───────────┤</a:t>
            </a:r>
          </a:p>
          <a:p>
            <a:pPr>
              <a:spcAft>
                <a:spcPts val="200"/>
              </a:spcAft>
              <a:defRPr sz="1200">
                <a:solidFill>
                  <a:srgbClr val="E0E0E4"/>
                </a:solidFill>
                <a:latin typeface="Consolas"/>
              </a:defRPr>
            </a:pPr>
            <a:r>
              <a:t>│ Acme Corp  │ 147      │ 284,500   │</a:t>
            </a:r>
          </a:p>
          <a:p>
            <a:pPr>
              <a:spcAft>
                <a:spcPts val="200"/>
              </a:spcAft>
              <a:defRPr sz="1200">
                <a:solidFill>
                  <a:srgbClr val="E0E0E4"/>
                </a:solidFill>
                <a:latin typeface="Consolas"/>
              </a:defRPr>
            </a:pPr>
            <a:r>
              <a:t>│ Globex     │ 203      │ 251,200   │</a:t>
            </a:r>
          </a:p>
          <a:p>
            <a:pPr>
              <a:spcAft>
                <a:spcPts val="200"/>
              </a:spcAft>
              <a:defRPr sz="1200">
                <a:solidFill>
                  <a:srgbClr val="E0E0E4"/>
                </a:solidFill>
                <a:latin typeface="Consolas"/>
              </a:defRPr>
            </a:pPr>
            <a:r>
              <a:t>│ Initech    │ 98       │ 198,750   │</a:t>
            </a:r>
          </a:p>
          <a:p>
            <a:pPr>
              <a:spcAft>
                <a:spcPts val="200"/>
              </a:spcAft>
              <a:defRPr sz="1200">
                <a:solidFill>
                  <a:srgbClr val="E0E0E4"/>
                </a:solidFill>
                <a:latin typeface="Consolas"/>
              </a:defRPr>
            </a:pPr>
            <a:r>
              <a:t>└────────────┴──────────┴───────────┘</a:t>
            </a:r>
          </a:p>
          <a:p>
            <a:pPr>
              <a:spcAft>
                <a:spcPts val="200"/>
              </a:spcAft>
              <a:defRPr sz="1200">
                <a:solidFill>
                  <a:srgbClr val="E0E0E4"/>
                </a:solidFill>
                <a:latin typeface="Consolas"/>
              </a:defRPr>
            </a:pPr>
            <a:endParaRPr/>
          </a:p>
          <a:p>
            <a:pPr>
              <a:spcAft>
                <a:spcPts val="200"/>
              </a:spcAft>
              <a:defRPr sz="1200">
                <a:solidFill>
                  <a:srgbClr val="E0E0E4"/>
                </a:solidFill>
                <a:latin typeface="Consolas"/>
              </a:defRPr>
            </a:pPr>
            <a:r>
              <a:t>+ saves the script as ltv_analysis.py</a:t>
            </a:r>
          </a:p>
        </p:txBody>
      </p:sp>
      <p:sp>
        <p:nvSpPr>
          <p:cNvPr id="7" name="TextBox 6"/>
          <p:cNvSpPr txBox="1"/>
          <p:nvPr/>
        </p:nvSpPr>
        <p:spPr>
          <a:xfrm>
            <a:off x="6583680" y="2286000"/>
            <a:ext cx="4572000" cy="365760"/>
          </a:xfrm>
          <a:prstGeom prst="rect">
            <a:avLst/>
          </a:prstGeom>
          <a:noFill/>
        </p:spPr>
        <p:txBody>
          <a:bodyPr wrap="square">
            <a:spAutoFit/>
          </a:bodyPr>
          <a:lstStyle/>
          <a:p>
            <a:pPr algn="l">
              <a:defRPr sz="1800" b="1">
                <a:solidFill>
                  <a:srgbClr val="D47B2A"/>
                </a:solidFill>
                <a:latin typeface="Calibri"/>
              </a:defRPr>
            </a:pPr>
            <a:r>
              <a:t>What Claude Can Do</a:t>
            </a:r>
          </a:p>
        </p:txBody>
      </p:sp>
      <p:sp>
        <p:nvSpPr>
          <p:cNvPr id="8" name="TextBox 7"/>
          <p:cNvSpPr txBox="1"/>
          <p:nvPr/>
        </p:nvSpPr>
        <p:spPr>
          <a:xfrm>
            <a:off x="6583680" y="2743200"/>
            <a:ext cx="4754880" cy="3657600"/>
          </a:xfrm>
          <a:prstGeom prst="rect">
            <a:avLst/>
          </a:prstGeom>
          <a:noFill/>
        </p:spPr>
        <p:txBody>
          <a:bodyPr wrap="square">
            <a:spAutoFit/>
          </a:bodyPr>
          <a:lstStyle/>
          <a:p>
            <a:pPr>
              <a:spcAft>
                <a:spcPts val="800"/>
              </a:spcAft>
              <a:defRPr sz="1400">
                <a:solidFill>
                  <a:srgbClr val="E0E0E4"/>
                </a:solidFill>
                <a:latin typeface="Calibri"/>
              </a:defRPr>
            </a:pPr>
            <a:r>
              <a:t>Write pandas scripts for data manipulation and aggregation</a:t>
            </a:r>
          </a:p>
          <a:p>
            <a:pPr>
              <a:spcAft>
                <a:spcPts val="800"/>
              </a:spcAft>
              <a:defRPr sz="1400">
                <a:solidFill>
                  <a:srgbClr val="E0E0E4"/>
                </a:solidFill>
                <a:latin typeface="Calibri"/>
              </a:defRPr>
            </a:pPr>
            <a:r>
              <a:t>Use scikit-learn for ML models, clustering, and predictions</a:t>
            </a:r>
          </a:p>
          <a:p>
            <a:pPr>
              <a:spcAft>
                <a:spcPts val="800"/>
              </a:spcAft>
              <a:defRPr sz="1400">
                <a:solidFill>
                  <a:srgbClr val="E0E0E4"/>
                </a:solidFill>
                <a:latin typeface="Calibri"/>
              </a:defRPr>
            </a:pPr>
            <a:r>
              <a:t>Create publication-quality charts with matplotlib and seaborn</a:t>
            </a:r>
          </a:p>
          <a:p>
            <a:pPr>
              <a:spcAft>
                <a:spcPts val="800"/>
              </a:spcAft>
              <a:defRPr sz="1400">
                <a:solidFill>
                  <a:srgbClr val="E0E0E4"/>
                </a:solidFill>
                <a:latin typeface="Calibri"/>
              </a:defRPr>
            </a:pPr>
            <a:r>
              <a:t>Process large files efficiently with chunked reading</a:t>
            </a:r>
          </a:p>
          <a:p>
            <a:pPr>
              <a:spcAft>
                <a:spcPts val="800"/>
              </a:spcAft>
              <a:defRPr sz="1400">
                <a:solidFill>
                  <a:srgbClr val="E0E0E4"/>
                </a:solidFill>
                <a:latin typeface="Calibri"/>
              </a:defRPr>
            </a:pPr>
            <a:r>
              <a:t>Install missing packages automatically with pip</a:t>
            </a:r>
          </a:p>
          <a:p>
            <a:pPr>
              <a:spcAft>
                <a:spcPts val="800"/>
              </a:spcAft>
              <a:defRPr sz="1400">
                <a:solidFill>
                  <a:srgbClr val="E0E0E4"/>
                </a:solidFill>
                <a:latin typeface="Calibri"/>
              </a:defRPr>
            </a:pPr>
            <a:r>
              <a:t>Save reusable scripts for reproducible analysis</a:t>
            </a:r>
          </a:p>
          <a:p>
            <a:pPr>
              <a:spcAft>
                <a:spcPts val="800"/>
              </a:spcAft>
              <a:defRPr sz="1400">
                <a:solidFill>
                  <a:srgbClr val="E0E0E4"/>
                </a:solidFill>
                <a:latin typeface="Calibri"/>
              </a:defRPr>
            </a:pPr>
            <a:r>
              <a:t>Read SQL databases and run queries directly</a:t>
            </a:r>
          </a:p>
          <a:p>
            <a:pPr>
              <a:spcAft>
                <a:spcPts val="800"/>
              </a:spcAft>
              <a:defRPr sz="1400">
                <a:solidFill>
                  <a:srgbClr val="E0E0E4"/>
                </a:solidFill>
                <a:latin typeface="Calibri"/>
              </a:defRPr>
            </a:pPr>
            <a:r>
              <a:t>Handle multiple file formats: CSV, Parquet, Excel, JSON, HDF5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Advanced Techniques</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3383280" cy="4572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63040"/>
            <a:ext cx="45720" cy="4572000"/>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3017520" cy="365760"/>
          </a:xfrm>
          <a:prstGeom prst="rect">
            <a:avLst/>
          </a:prstGeom>
          <a:noFill/>
        </p:spPr>
        <p:txBody>
          <a:bodyPr wrap="square">
            <a:spAutoFit/>
          </a:bodyPr>
          <a:lstStyle/>
          <a:p>
            <a:pPr algn="l">
              <a:defRPr sz="1800" b="1">
                <a:solidFill>
                  <a:srgbClr val="4EC98B"/>
                </a:solidFill>
                <a:latin typeface="Calibri"/>
              </a:defRPr>
            </a:pPr>
            <a:r>
              <a:t>CLAUDE.md for Context</a:t>
            </a:r>
          </a:p>
        </p:txBody>
      </p:sp>
      <p:sp>
        <p:nvSpPr>
          <p:cNvPr id="7" name="TextBox 6"/>
          <p:cNvSpPr txBox="1"/>
          <p:nvPr/>
        </p:nvSpPr>
        <p:spPr>
          <a:xfrm>
            <a:off x="960120" y="2103120"/>
            <a:ext cx="3017520" cy="1097280"/>
          </a:xfrm>
          <a:prstGeom prst="rect">
            <a:avLst/>
          </a:prstGeom>
          <a:noFill/>
        </p:spPr>
        <p:txBody>
          <a:bodyPr wrap="square">
            <a:spAutoFit/>
          </a:bodyPr>
          <a:lstStyle/>
          <a:p>
            <a:pPr algn="l">
              <a:defRPr sz="1200" b="0">
                <a:solidFill>
                  <a:srgbClr val="B0B0B8"/>
                </a:solidFill>
                <a:latin typeface="Calibri"/>
              </a:defRPr>
            </a:pPr>
            <a:r>
              <a:t>Add a CLAUDE.md file to your project root describing your data schema, business rules, and analysis conventions. Claude reads this automatically and applies your context to every interaction.</a:t>
            </a:r>
          </a:p>
        </p:txBody>
      </p:sp>
      <p:sp>
        <p:nvSpPr>
          <p:cNvPr id="8" name="Rounded Rectangle 7"/>
          <p:cNvSpPr/>
          <p:nvPr/>
        </p:nvSpPr>
        <p:spPr>
          <a:xfrm>
            <a:off x="868680" y="3383280"/>
            <a:ext cx="3108960" cy="246888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 CLAUDE.md</a:t>
            </a:r>
          </a:p>
          <a:p>
            <a:pPr>
              <a:spcAft>
                <a:spcPts val="200"/>
              </a:spcAft>
              <a:defRPr sz="1000">
                <a:solidFill>
                  <a:srgbClr val="E0E0E4"/>
                </a:solidFill>
                <a:latin typeface="Consolas"/>
              </a:defRPr>
            </a:pPr>
            <a:r>
              <a:t>## Data Schema</a:t>
            </a:r>
          </a:p>
          <a:p>
            <a:pPr>
              <a:spcAft>
                <a:spcPts val="200"/>
              </a:spcAft>
              <a:defRPr sz="1000">
                <a:solidFill>
                  <a:srgbClr val="E0E0E4"/>
                </a:solidFill>
                <a:latin typeface="Consolas"/>
              </a:defRPr>
            </a:pPr>
            <a:r>
              <a:t>- revenue.csv: daily revenue</a:t>
            </a:r>
          </a:p>
          <a:p>
            <a:pPr>
              <a:spcAft>
                <a:spcPts val="200"/>
              </a:spcAft>
              <a:defRPr sz="1000">
                <a:solidFill>
                  <a:srgbClr val="E0E0E4"/>
                </a:solidFill>
                <a:latin typeface="Consolas"/>
              </a:defRPr>
            </a:pPr>
            <a:r>
              <a:t>  columns: date, product, amount</a:t>
            </a:r>
          </a:p>
          <a:p>
            <a:pPr>
              <a:spcAft>
                <a:spcPts val="200"/>
              </a:spcAft>
              <a:defRPr sz="1000">
                <a:solidFill>
                  <a:srgbClr val="E0E0E4"/>
                </a:solidFill>
                <a:latin typeface="Consolas"/>
              </a:defRPr>
            </a:pPr>
            <a:r>
              <a:t>- customers.csv: customer dim table</a:t>
            </a:r>
          </a:p>
          <a:p>
            <a:pPr>
              <a:spcAft>
                <a:spcPts val="200"/>
              </a:spcAft>
              <a:defRPr sz="1000">
                <a:solidFill>
                  <a:srgbClr val="E0E0E4"/>
                </a:solidFill>
                <a:latin typeface="Consolas"/>
              </a:defRPr>
            </a:pPr>
            <a:r>
              <a:t>## Conventions</a:t>
            </a:r>
          </a:p>
          <a:p>
            <a:pPr>
              <a:spcAft>
                <a:spcPts val="200"/>
              </a:spcAft>
              <a:defRPr sz="1000">
                <a:solidFill>
                  <a:srgbClr val="E0E0E4"/>
                </a:solidFill>
                <a:latin typeface="Consolas"/>
              </a:defRPr>
            </a:pPr>
            <a:r>
              <a:t>- Fiscal year starts April 1</a:t>
            </a:r>
          </a:p>
          <a:p>
            <a:pPr>
              <a:spcAft>
                <a:spcPts val="200"/>
              </a:spcAft>
              <a:defRPr sz="1000">
                <a:solidFill>
                  <a:srgbClr val="E0E0E4"/>
                </a:solidFill>
                <a:latin typeface="Consolas"/>
              </a:defRPr>
            </a:pPr>
            <a:r>
              <a:t>- All currency in USD</a:t>
            </a:r>
          </a:p>
        </p:txBody>
      </p:sp>
      <p:sp>
        <p:nvSpPr>
          <p:cNvPr id="9" name="Rounded Rectangle 8"/>
          <p:cNvSpPr/>
          <p:nvPr/>
        </p:nvSpPr>
        <p:spPr>
          <a:xfrm>
            <a:off x="4389120" y="1463040"/>
            <a:ext cx="3383280" cy="4572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463040"/>
            <a:ext cx="45720" cy="4572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645920"/>
            <a:ext cx="3017520" cy="365760"/>
          </a:xfrm>
          <a:prstGeom prst="rect">
            <a:avLst/>
          </a:prstGeom>
          <a:noFill/>
        </p:spPr>
        <p:txBody>
          <a:bodyPr wrap="square">
            <a:spAutoFit/>
          </a:bodyPr>
          <a:lstStyle/>
          <a:p>
            <a:pPr algn="l">
              <a:defRPr sz="1800" b="1">
                <a:solidFill>
                  <a:srgbClr val="5B8DEF"/>
                </a:solidFill>
                <a:latin typeface="Calibri"/>
              </a:defRPr>
            </a:pPr>
            <a:r>
              <a:t>Multi-File Pipelines</a:t>
            </a:r>
          </a:p>
        </p:txBody>
      </p:sp>
      <p:sp>
        <p:nvSpPr>
          <p:cNvPr id="12" name="TextBox 11"/>
          <p:cNvSpPr txBox="1"/>
          <p:nvPr/>
        </p:nvSpPr>
        <p:spPr>
          <a:xfrm>
            <a:off x="4617720" y="2103120"/>
            <a:ext cx="3017520" cy="1097280"/>
          </a:xfrm>
          <a:prstGeom prst="rect">
            <a:avLst/>
          </a:prstGeom>
          <a:noFill/>
        </p:spPr>
        <p:txBody>
          <a:bodyPr wrap="square">
            <a:spAutoFit/>
          </a:bodyPr>
          <a:lstStyle/>
          <a:p>
            <a:pPr algn="l">
              <a:defRPr sz="1200" b="0">
                <a:solidFill>
                  <a:srgbClr val="B0B0B8"/>
                </a:solidFill>
                <a:latin typeface="Calibri"/>
              </a:defRPr>
            </a:pPr>
            <a:r>
              <a:t>Ask Claude to build multi-step pipelines that chain together — cleaning, feature engineering, modeling, and reporting in one flow.</a:t>
            </a:r>
          </a:p>
        </p:txBody>
      </p:sp>
      <p:sp>
        <p:nvSpPr>
          <p:cNvPr id="13" name="Rounded Rectangle 12"/>
          <p:cNvSpPr/>
          <p:nvPr/>
        </p:nvSpPr>
        <p:spPr>
          <a:xfrm>
            <a:off x="4526280" y="3383280"/>
            <a:ext cx="3108960" cy="246888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You: "Build a pipeline that:</a:t>
            </a:r>
          </a:p>
          <a:p>
            <a:pPr>
              <a:spcAft>
                <a:spcPts val="200"/>
              </a:spcAft>
              <a:defRPr sz="1000">
                <a:solidFill>
                  <a:srgbClr val="E0E0E4"/>
                </a:solidFill>
                <a:latin typeface="Consolas"/>
              </a:defRPr>
            </a:pPr>
            <a:r>
              <a:t>1. Cleans the raw CSV</a:t>
            </a:r>
          </a:p>
          <a:p>
            <a:pPr>
              <a:spcAft>
                <a:spcPts val="200"/>
              </a:spcAft>
              <a:defRPr sz="1000">
                <a:solidFill>
                  <a:srgbClr val="E0E0E4"/>
                </a:solidFill>
                <a:latin typeface="Consolas"/>
              </a:defRPr>
            </a:pPr>
            <a:r>
              <a:t>2. Engineers features</a:t>
            </a:r>
          </a:p>
          <a:p>
            <a:pPr>
              <a:spcAft>
                <a:spcPts val="200"/>
              </a:spcAft>
              <a:defRPr sz="1000">
                <a:solidFill>
                  <a:srgbClr val="E0E0E4"/>
                </a:solidFill>
                <a:latin typeface="Consolas"/>
              </a:defRPr>
            </a:pPr>
            <a:r>
              <a:t>3. Trains a churn model</a:t>
            </a:r>
          </a:p>
          <a:p>
            <a:pPr>
              <a:spcAft>
                <a:spcPts val="200"/>
              </a:spcAft>
              <a:defRPr sz="1000">
                <a:solidFill>
                  <a:srgbClr val="E0E0E4"/>
                </a:solidFill>
                <a:latin typeface="Consolas"/>
              </a:defRPr>
            </a:pPr>
            <a:r>
              <a:t>4. Exports predictions to Excel</a:t>
            </a:r>
          </a:p>
          <a:p>
            <a:pPr>
              <a:spcAft>
                <a:spcPts val="200"/>
              </a:spcAft>
              <a:defRPr sz="1000">
                <a:solidFill>
                  <a:srgbClr val="E0E0E4"/>
                </a:solidFill>
                <a:latin typeface="Consolas"/>
              </a:defRPr>
            </a:pPr>
            <a:r>
              <a:t>5. Generates a summary report"</a:t>
            </a:r>
          </a:p>
          <a:p>
            <a:pPr>
              <a:spcAft>
                <a:spcPts val="200"/>
              </a:spcAft>
              <a:defRPr sz="1000">
                <a:solidFill>
                  <a:srgbClr val="E0E0E4"/>
                </a:solidFill>
                <a:latin typeface="Consolas"/>
              </a:defRPr>
            </a:pPr>
            <a:endParaRPr/>
          </a:p>
          <a:p>
            <a:pPr>
              <a:spcAft>
                <a:spcPts val="200"/>
              </a:spcAft>
              <a:defRPr sz="1000">
                <a:solidFill>
                  <a:srgbClr val="E0E0E4"/>
                </a:solidFill>
                <a:latin typeface="Consolas"/>
              </a:defRPr>
            </a:pPr>
            <a:r>
              <a:t>Claude: Creates 5 scripts + a</a:t>
            </a:r>
          </a:p>
          <a:p>
            <a:pPr>
              <a:spcAft>
                <a:spcPts val="200"/>
              </a:spcAft>
              <a:defRPr sz="1000">
                <a:solidFill>
                  <a:srgbClr val="E0E0E4"/>
                </a:solidFill>
                <a:latin typeface="Consolas"/>
              </a:defRPr>
            </a:pPr>
            <a:r>
              <a:t>        run_pipeline.sh orchestrator</a:t>
            </a:r>
          </a:p>
        </p:txBody>
      </p:sp>
      <p:sp>
        <p:nvSpPr>
          <p:cNvPr id="14" name="Rounded Rectangle 13"/>
          <p:cNvSpPr/>
          <p:nvPr/>
        </p:nvSpPr>
        <p:spPr>
          <a:xfrm>
            <a:off x="8046720" y="1463040"/>
            <a:ext cx="3383280" cy="4572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463040"/>
            <a:ext cx="45720" cy="4572000"/>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1645920"/>
            <a:ext cx="3017520" cy="365760"/>
          </a:xfrm>
          <a:prstGeom prst="rect">
            <a:avLst/>
          </a:prstGeom>
          <a:noFill/>
        </p:spPr>
        <p:txBody>
          <a:bodyPr wrap="square">
            <a:spAutoFit/>
          </a:bodyPr>
          <a:lstStyle/>
          <a:p>
            <a:pPr algn="l">
              <a:defRPr sz="1800" b="1">
                <a:solidFill>
                  <a:srgbClr val="9B6EE7"/>
                </a:solidFill>
                <a:latin typeface="Calibri"/>
              </a:defRPr>
            </a:pPr>
            <a:r>
              <a:t>Iterative Exploration</a:t>
            </a:r>
          </a:p>
        </p:txBody>
      </p:sp>
      <p:sp>
        <p:nvSpPr>
          <p:cNvPr id="17" name="TextBox 16"/>
          <p:cNvSpPr txBox="1"/>
          <p:nvPr/>
        </p:nvSpPr>
        <p:spPr>
          <a:xfrm>
            <a:off x="8275320" y="2103120"/>
            <a:ext cx="3017520" cy="1097280"/>
          </a:xfrm>
          <a:prstGeom prst="rect">
            <a:avLst/>
          </a:prstGeom>
          <a:noFill/>
        </p:spPr>
        <p:txBody>
          <a:bodyPr wrap="square">
            <a:spAutoFit/>
          </a:bodyPr>
          <a:lstStyle/>
          <a:p>
            <a:pPr algn="l">
              <a:defRPr sz="1200" b="0">
                <a:solidFill>
                  <a:srgbClr val="B0B0B8"/>
                </a:solidFill>
                <a:latin typeface="Calibri"/>
              </a:defRPr>
            </a:pPr>
            <a:r>
              <a:t>Use Claude's conversation memory to drill down into findings. Each follow-up question builds on previous context without re-loading data.</a:t>
            </a:r>
          </a:p>
        </p:txBody>
      </p:sp>
      <p:sp>
        <p:nvSpPr>
          <p:cNvPr id="18" name="Rounded Rectangle 17"/>
          <p:cNvSpPr/>
          <p:nvPr/>
        </p:nvSpPr>
        <p:spPr>
          <a:xfrm>
            <a:off x="8183880" y="3383280"/>
            <a:ext cx="3108960" cy="246888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You: "What drove the Q3 revenue dip?"</a:t>
            </a:r>
          </a:p>
          <a:p>
            <a:pPr>
              <a:spcAft>
                <a:spcPts val="200"/>
              </a:spcAft>
              <a:defRPr sz="1000">
                <a:solidFill>
                  <a:srgbClr val="E0E0E4"/>
                </a:solidFill>
                <a:latin typeface="Consolas"/>
              </a:defRPr>
            </a:pPr>
            <a:r>
              <a:t>Claude: [analyzes, shows breakdown]</a:t>
            </a:r>
          </a:p>
          <a:p>
            <a:pPr>
              <a:spcAft>
                <a:spcPts val="200"/>
              </a:spcAft>
              <a:defRPr sz="1000">
                <a:solidFill>
                  <a:srgbClr val="E0E0E4"/>
                </a:solidFill>
                <a:latin typeface="Consolas"/>
              </a:defRPr>
            </a:pPr>
            <a:endParaRPr/>
          </a:p>
          <a:p>
            <a:pPr>
              <a:spcAft>
                <a:spcPts val="200"/>
              </a:spcAft>
              <a:defRPr sz="1000">
                <a:solidFill>
                  <a:srgbClr val="E0E0E4"/>
                </a:solidFill>
                <a:latin typeface="Consolas"/>
              </a:defRPr>
            </a:pPr>
            <a:r>
              <a:t>You: "Drill into the Enterprise segment"</a:t>
            </a:r>
          </a:p>
          <a:p>
            <a:pPr>
              <a:spcAft>
                <a:spcPts val="200"/>
              </a:spcAft>
              <a:defRPr sz="1000">
                <a:solidFill>
                  <a:srgbClr val="E0E0E4"/>
                </a:solidFill>
                <a:latin typeface="Consolas"/>
              </a:defRPr>
            </a:pPr>
            <a:r>
              <a:t>Claude: [filters, deeper analysis]</a:t>
            </a:r>
          </a:p>
          <a:p>
            <a:pPr>
              <a:spcAft>
                <a:spcPts val="200"/>
              </a:spcAft>
              <a:defRPr sz="1000">
                <a:solidFill>
                  <a:srgbClr val="E0E0E4"/>
                </a:solidFill>
                <a:latin typeface="Consolas"/>
              </a:defRPr>
            </a:pPr>
            <a:endParaRPr/>
          </a:p>
          <a:p>
            <a:pPr>
              <a:spcAft>
                <a:spcPts val="200"/>
              </a:spcAft>
              <a:defRPr sz="1000">
                <a:solidFill>
                  <a:srgbClr val="E0E0E4"/>
                </a:solidFill>
                <a:latin typeface="Consolas"/>
              </a:defRPr>
            </a:pPr>
            <a:r>
              <a:t>You: "Compare to Q3 last year"</a:t>
            </a:r>
          </a:p>
          <a:p>
            <a:pPr>
              <a:spcAft>
                <a:spcPts val="200"/>
              </a:spcAft>
              <a:defRPr sz="1000">
                <a:solidFill>
                  <a:srgbClr val="E0E0E4"/>
                </a:solidFill>
                <a:latin typeface="Consolas"/>
              </a:defRPr>
            </a:pPr>
            <a:r>
              <a:t>Claude: [year-over-year comparison]</a:t>
            </a:r>
          </a:p>
          <a:p>
            <a:pPr>
              <a:spcAft>
                <a:spcPts val="200"/>
              </a:spcAft>
              <a:defRPr sz="1000">
                <a:solidFill>
                  <a:srgbClr val="E0E0E4"/>
                </a:solidFill>
                <a:latin typeface="Consolas"/>
              </a:defRPr>
            </a:pPr>
            <a:endParaRPr/>
          </a:p>
          <a:p>
            <a:pPr>
              <a:spcAft>
                <a:spcPts val="200"/>
              </a:spcAft>
              <a:defRPr sz="1000">
                <a:solidFill>
                  <a:srgbClr val="E0E0E4"/>
                </a:solidFill>
                <a:latin typeface="Consolas"/>
              </a:defRPr>
            </a:pPr>
            <a:r>
              <a:t>You: "Save this whole analysis as</a:t>
            </a:r>
          </a:p>
          <a:p>
            <a:pPr>
              <a:spcAft>
                <a:spcPts val="200"/>
              </a:spcAft>
              <a:defRPr sz="1000">
                <a:solidFill>
                  <a:srgbClr val="E0E0E4"/>
                </a:solidFill>
                <a:latin typeface="Consolas"/>
              </a:defRPr>
            </a:pPr>
            <a:r>
              <a:t>      a Jupyter notebook"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Extending Claude Code</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029200" cy="365760"/>
          </a:xfrm>
          <a:prstGeom prst="rect">
            <a:avLst/>
          </a:prstGeom>
          <a:noFill/>
        </p:spPr>
        <p:txBody>
          <a:bodyPr wrap="square">
            <a:spAutoFit/>
          </a:bodyPr>
          <a:lstStyle/>
          <a:p>
            <a:pPr algn="l">
              <a:defRPr sz="2200" b="1">
                <a:solidFill>
                  <a:srgbClr val="4EC98B"/>
                </a:solidFill>
                <a:latin typeface="Calibri"/>
              </a:defRPr>
            </a:pPr>
            <a:r>
              <a:t>MCP Servers for Data</a:t>
            </a:r>
          </a:p>
        </p:txBody>
      </p:sp>
      <p:sp>
        <p:nvSpPr>
          <p:cNvPr id="5" name="TextBox 4"/>
          <p:cNvSpPr txBox="1"/>
          <p:nvPr/>
        </p:nvSpPr>
        <p:spPr>
          <a:xfrm>
            <a:off x="731520" y="1920240"/>
            <a:ext cx="5029200" cy="548640"/>
          </a:xfrm>
          <a:prstGeom prst="rect">
            <a:avLst/>
          </a:prstGeom>
          <a:noFill/>
        </p:spPr>
        <p:txBody>
          <a:bodyPr wrap="square">
            <a:spAutoFit/>
          </a:bodyPr>
          <a:lstStyle/>
          <a:p>
            <a:pPr algn="l">
              <a:defRPr sz="1500" b="0">
                <a:solidFill>
                  <a:srgbClr val="E0E0E4"/>
                </a:solidFill>
                <a:latin typeface="Calibri"/>
              </a:defRPr>
            </a:pPr>
            <a:r>
              <a:t>Model Context Protocol servers extend Claude with specialized data capabilities:</a:t>
            </a:r>
          </a:p>
        </p:txBody>
      </p:sp>
      <p:sp>
        <p:nvSpPr>
          <p:cNvPr id="6" name="TextBox 5"/>
          <p:cNvSpPr txBox="1"/>
          <p:nvPr/>
        </p:nvSpPr>
        <p:spPr>
          <a:xfrm>
            <a:off x="731520" y="2468880"/>
            <a:ext cx="5029200" cy="2286000"/>
          </a:xfrm>
          <a:prstGeom prst="rect">
            <a:avLst/>
          </a:prstGeom>
          <a:noFill/>
        </p:spPr>
        <p:txBody>
          <a:bodyPr wrap="square">
            <a:spAutoFit/>
          </a:bodyPr>
          <a:lstStyle/>
          <a:p>
            <a:pPr>
              <a:spcAft>
                <a:spcPts val="800"/>
              </a:spcAft>
              <a:defRPr sz="1400">
                <a:solidFill>
                  <a:srgbClr val="E0E0E4"/>
                </a:solidFill>
                <a:latin typeface="Calibri"/>
              </a:defRPr>
            </a:pPr>
            <a:r>
              <a:t>Filesystem server — controlled access to data directories</a:t>
            </a:r>
          </a:p>
          <a:p>
            <a:pPr>
              <a:spcAft>
                <a:spcPts val="800"/>
              </a:spcAft>
              <a:defRPr sz="1400">
                <a:solidFill>
                  <a:srgbClr val="E0E0E4"/>
                </a:solidFill>
                <a:latin typeface="Calibri"/>
              </a:defRPr>
            </a:pPr>
            <a:r>
              <a:t>Database servers — connect to Postgres, SQLite, BigQuery directly</a:t>
            </a:r>
          </a:p>
          <a:p>
            <a:pPr>
              <a:spcAft>
                <a:spcPts val="800"/>
              </a:spcAft>
              <a:defRPr sz="1400">
                <a:solidFill>
                  <a:srgbClr val="E0E0E4"/>
                </a:solidFill>
                <a:latin typeface="Calibri"/>
              </a:defRPr>
            </a:pPr>
            <a:r>
              <a:t>Google Sheets — read and write spreadsheet data</a:t>
            </a:r>
          </a:p>
          <a:p>
            <a:pPr>
              <a:spcAft>
                <a:spcPts val="800"/>
              </a:spcAft>
              <a:defRPr sz="1400">
                <a:solidFill>
                  <a:srgbClr val="E0E0E4"/>
                </a:solidFill>
                <a:latin typeface="Calibri"/>
              </a:defRPr>
            </a:pPr>
            <a:r>
              <a:t>Custom servers — build connectors to your internal data systems</a:t>
            </a:r>
          </a:p>
        </p:txBody>
      </p:sp>
      <p:sp>
        <p:nvSpPr>
          <p:cNvPr id="7" name="Rounded Rectangle 6"/>
          <p:cNvSpPr/>
          <p:nvPr/>
        </p:nvSpPr>
        <p:spPr>
          <a:xfrm>
            <a:off x="731520" y="4389120"/>
            <a:ext cx="5029200" cy="137160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100">
                <a:solidFill>
                  <a:srgbClr val="E0E0E4"/>
                </a:solidFill>
                <a:latin typeface="Consolas"/>
              </a:defRPr>
            </a:pPr>
            <a:r>
              <a:t># Add a Postgres MCP server</a:t>
            </a:r>
          </a:p>
          <a:p>
            <a:pPr>
              <a:spcAft>
                <a:spcPts val="200"/>
              </a:spcAft>
              <a:defRPr sz="1100">
                <a:solidFill>
                  <a:srgbClr val="E0E0E4"/>
                </a:solidFill>
                <a:latin typeface="Consolas"/>
              </a:defRPr>
            </a:pPr>
            <a:r>
              <a:t>claude mcp add postgres npx -- -y @modelcontextprotocol/server-postgres</a:t>
            </a:r>
          </a:p>
          <a:p>
            <a:pPr>
              <a:spcAft>
                <a:spcPts val="200"/>
              </a:spcAft>
              <a:defRPr sz="1100">
                <a:solidFill>
                  <a:srgbClr val="E0E0E4"/>
                </a:solidFill>
                <a:latin typeface="Consolas"/>
              </a:defRPr>
            </a:pPr>
            <a:endParaRPr/>
          </a:p>
          <a:p>
            <a:pPr>
              <a:spcAft>
                <a:spcPts val="200"/>
              </a:spcAft>
              <a:defRPr sz="1100">
                <a:solidFill>
                  <a:srgbClr val="E0E0E4"/>
                </a:solidFill>
                <a:latin typeface="Consolas"/>
              </a:defRPr>
            </a:pPr>
            <a:r>
              <a:t># Add filesystem access</a:t>
            </a:r>
          </a:p>
          <a:p>
            <a:pPr>
              <a:spcAft>
                <a:spcPts val="200"/>
              </a:spcAft>
              <a:defRPr sz="1100">
                <a:solidFill>
                  <a:srgbClr val="E0E0E4"/>
                </a:solidFill>
                <a:latin typeface="Consolas"/>
              </a:defRPr>
            </a:pPr>
            <a:r>
              <a:t>claude mcp add data-files npx -- -y @modelcontextprotocol/server-filesystem ~/data</a:t>
            </a:r>
          </a:p>
        </p:txBody>
      </p:sp>
      <p:sp>
        <p:nvSpPr>
          <p:cNvPr id="8" name="TextBox 7"/>
          <p:cNvSpPr txBox="1"/>
          <p:nvPr/>
        </p:nvSpPr>
        <p:spPr>
          <a:xfrm>
            <a:off x="6583680" y="1463040"/>
            <a:ext cx="4572000" cy="365760"/>
          </a:xfrm>
          <a:prstGeom prst="rect">
            <a:avLst/>
          </a:prstGeom>
          <a:noFill/>
        </p:spPr>
        <p:txBody>
          <a:bodyPr wrap="square">
            <a:spAutoFit/>
          </a:bodyPr>
          <a:lstStyle/>
          <a:p>
            <a:pPr algn="l">
              <a:defRPr sz="2200" b="1">
                <a:solidFill>
                  <a:srgbClr val="5B8DEF"/>
                </a:solidFill>
                <a:latin typeface="Calibri"/>
              </a:defRPr>
            </a:pPr>
            <a:r>
              <a:t>Useful Features</a:t>
            </a:r>
          </a:p>
        </p:txBody>
      </p:sp>
      <p:sp>
        <p:nvSpPr>
          <p:cNvPr id="9" name="TextBox 8"/>
          <p:cNvSpPr txBox="1"/>
          <p:nvPr/>
        </p:nvSpPr>
        <p:spPr>
          <a:xfrm>
            <a:off x="6583680" y="2011680"/>
            <a:ext cx="4754880" cy="2743200"/>
          </a:xfrm>
          <a:prstGeom prst="rect">
            <a:avLst/>
          </a:prstGeom>
          <a:noFill/>
        </p:spPr>
        <p:txBody>
          <a:bodyPr wrap="square">
            <a:spAutoFit/>
          </a:bodyPr>
          <a:lstStyle/>
          <a:p>
            <a:pPr>
              <a:spcAft>
                <a:spcPts val="800"/>
              </a:spcAft>
              <a:defRPr sz="1400">
                <a:solidFill>
                  <a:srgbClr val="E0E0E4"/>
                </a:solidFill>
                <a:latin typeface="Calibri"/>
              </a:defRPr>
            </a:pPr>
            <a:r>
              <a:t>Extended thinking — Claude shows its reasoning for complex analysis</a:t>
            </a:r>
          </a:p>
          <a:p>
            <a:pPr>
              <a:spcAft>
                <a:spcPts val="800"/>
              </a:spcAft>
              <a:defRPr sz="1400">
                <a:solidFill>
                  <a:srgbClr val="E0E0E4"/>
                </a:solidFill>
                <a:latin typeface="Calibri"/>
              </a:defRPr>
            </a:pPr>
            <a:r>
              <a:t>Sub-agents — delegate parts of analysis to parallel workers</a:t>
            </a:r>
          </a:p>
          <a:p>
            <a:pPr>
              <a:spcAft>
                <a:spcPts val="800"/>
              </a:spcAft>
              <a:defRPr sz="1400">
                <a:solidFill>
                  <a:srgbClr val="E0E0E4"/>
                </a:solidFill>
                <a:latin typeface="Calibri"/>
              </a:defRPr>
            </a:pPr>
            <a:r>
              <a:t>Headless mode — run batch analyses from shell scripts</a:t>
            </a:r>
          </a:p>
          <a:p>
            <a:pPr>
              <a:spcAft>
                <a:spcPts val="800"/>
              </a:spcAft>
              <a:defRPr sz="1400">
                <a:solidFill>
                  <a:srgbClr val="E0E0E4"/>
                </a:solidFill>
                <a:latin typeface="Calibri"/>
              </a:defRPr>
            </a:pPr>
            <a:r>
              <a:t>Custom slash commands — create reusable analysis shortcuts</a:t>
            </a:r>
          </a:p>
          <a:p>
            <a:pPr>
              <a:spcAft>
                <a:spcPts val="800"/>
              </a:spcAft>
              <a:defRPr sz="1400">
                <a:solidFill>
                  <a:srgbClr val="E0E0E4"/>
                </a:solidFill>
                <a:latin typeface="Calibri"/>
              </a:defRPr>
            </a:pPr>
            <a:r>
              <a:t>Hooks — auto-run linting or tests after code generation</a:t>
            </a:r>
          </a:p>
          <a:p>
            <a:pPr>
              <a:spcAft>
                <a:spcPts val="800"/>
              </a:spcAft>
              <a:defRPr sz="1400">
                <a:solidFill>
                  <a:srgbClr val="E0E0E4"/>
                </a:solidFill>
                <a:latin typeface="Calibri"/>
              </a:defRPr>
            </a:pPr>
            <a:r>
              <a:t>Jupyter integration — work inside notebooks with Claude</a:t>
            </a:r>
          </a:p>
        </p:txBody>
      </p:sp>
      <p:sp>
        <p:nvSpPr>
          <p:cNvPr id="10" name="TextBox 9"/>
          <p:cNvSpPr txBox="1"/>
          <p:nvPr/>
        </p:nvSpPr>
        <p:spPr>
          <a:xfrm>
            <a:off x="6583680" y="4389120"/>
            <a:ext cx="4572000" cy="365760"/>
          </a:xfrm>
          <a:prstGeom prst="rect">
            <a:avLst/>
          </a:prstGeom>
          <a:noFill/>
        </p:spPr>
        <p:txBody>
          <a:bodyPr wrap="square">
            <a:spAutoFit/>
          </a:bodyPr>
          <a:lstStyle/>
          <a:p>
            <a:pPr algn="l">
              <a:defRPr sz="1600" b="1">
                <a:solidFill>
                  <a:srgbClr val="5B8DEF"/>
                </a:solidFill>
                <a:latin typeface="Calibri"/>
              </a:defRPr>
            </a:pPr>
            <a:r>
              <a:t>Batch Analysis Example</a:t>
            </a:r>
          </a:p>
        </p:txBody>
      </p:sp>
      <p:sp>
        <p:nvSpPr>
          <p:cNvPr id="11" name="Rounded Rectangle 10"/>
          <p:cNvSpPr/>
          <p:nvPr/>
        </p:nvSpPr>
        <p:spPr>
          <a:xfrm>
            <a:off x="6583680" y="4846320"/>
            <a:ext cx="4754880" cy="118872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100">
                <a:solidFill>
                  <a:srgbClr val="E0E0E4"/>
                </a:solidFill>
                <a:latin typeface="Consolas"/>
              </a:defRPr>
            </a:pPr>
            <a:r>
              <a:t># Run an analysis headlessly</a:t>
            </a:r>
          </a:p>
          <a:p>
            <a:pPr>
              <a:spcAft>
                <a:spcPts val="200"/>
              </a:spcAft>
              <a:defRPr sz="1100">
                <a:solidFill>
                  <a:srgbClr val="E0E0E4"/>
                </a:solidFill>
                <a:latin typeface="Consolas"/>
              </a:defRPr>
            </a:pPr>
            <a:r>
              <a:t>claude -p "Analyze sales.csv: compute \</a:t>
            </a:r>
          </a:p>
          <a:p>
            <a:pPr>
              <a:spcAft>
                <a:spcPts val="200"/>
              </a:spcAft>
              <a:defRPr sz="1100">
                <a:solidFill>
                  <a:srgbClr val="E0E0E4"/>
                </a:solidFill>
                <a:latin typeface="Consolas"/>
              </a:defRPr>
            </a:pPr>
            <a:r>
              <a:t>  monthly growth rates, flag anomalies, \</a:t>
            </a:r>
          </a:p>
          <a:p>
            <a:pPr>
              <a:spcAft>
                <a:spcPts val="200"/>
              </a:spcAft>
              <a:defRPr sz="1100">
                <a:solidFill>
                  <a:srgbClr val="E0E0E4"/>
                </a:solidFill>
                <a:latin typeface="Consolas"/>
              </a:defRPr>
            </a:pPr>
            <a:r>
              <a:t>  save results to report.md" --allowedTools bash,write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MCP Servers</a:t>
            </a:r>
          </a:p>
        </p:txBody>
      </p:sp>
      <p:sp>
        <p:nvSpPr>
          <p:cNvPr id="4" name="Rectangle 3"/>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0000"/>
            <a:ext cx="5029200" cy="36576"/>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20000"/>
            <a:ext cx="5029200" cy="350000"/>
          </a:xfrm>
          <a:prstGeom prst="rect">
            <a:avLst/>
          </a:prstGeom>
          <a:noFill/>
        </p:spPr>
        <p:txBody>
          <a:bodyPr wrap="square">
            <a:spAutoFit/>
          </a:bodyPr>
          <a:lstStyle/>
          <a:p>
            <a:r>
              <a:rPr lang="en-US" sz="1600" b="1">
                <a:solidFill>
                  <a:srgbClr val="4EC98B"/>
                </a:solidFill>
                <a:latin typeface="Calibri"/>
              </a:rPr>
              <a:t>What Are MCP Servers?</a:t>
            </a:r>
          </a:p>
        </p:txBody>
      </p:sp>
      <p:sp>
        <p:nvSpPr>
          <p:cNvPr id="7" name="TextBox 6"/>
          <p:cNvSpPr txBox="1"/>
          <p:nvPr/>
        </p:nvSpPr>
        <p:spPr>
          <a:xfrm>
            <a:off x="731520" y="1800000"/>
            <a:ext cx="5029200" cy="1100000"/>
          </a:xfrm>
          <a:prstGeom prst="rect">
            <a:avLst/>
          </a:prstGeom>
          <a:noFill/>
        </p:spPr>
        <p:txBody>
          <a:bodyPr wrap="square">
            <a:spAutoFit/>
          </a:bodyPr>
          <a:lstStyle/>
          <a:p>
            <a:pPr>
              <a:spcAft>
                <a:spcPts val="300"/>
              </a:spcAft>
            </a:pPr>
            <a:r>
              <a:rPr lang="en-US" sz="1100">
                <a:solidFill>
                  <a:srgbClr val="BBBBBB"/>
                </a:solidFill>
                <a:latin typeface="Calibri"/>
              </a:rPr>
              <a:t>MCP (Model Context Protocol) servers are plugins that give Claude access to external tools and data sources.  Think of them as </a:t>
            </a:r>
            <a:r>
              <a:rPr lang="en-US" sz="1100" b="1">
                <a:solidFill>
                  <a:srgbClr val="BBBBBB"/>
                </a:solidFill>
                <a:latin typeface="Calibri"/>
              </a:rPr>
              <a:t>adapters</a:t>
            </a:r>
            <a:r>
              <a:rPr lang="en-US" sz="1100">
                <a:solidFill>
                  <a:srgbClr val="BBBBBB"/>
                </a:solidFill>
                <a:latin typeface="Calibri"/>
              </a:rPr>
              <a:t> — each one connects Claude to a specific system so it can read, search, or act on information it couldn't reach on its own.</a:t>
            </a:r>
          </a:p>
          <a:p>
            <a:pPr>
              <a:spcAft>
                <a:spcPts val="300"/>
              </a:spcAft>
            </a:pPr>
            <a:r>
              <a:rPr lang="en-US" sz="1100">
                <a:solidFill>
                  <a:srgbClr val="BBBBBB"/>
                </a:solidFill>
                <a:latin typeface="Calibri"/>
              </a:rPr>
              <a:t>MCP servers work with both Claude Code (terminal) and the Claude Desktop app.</a:t>
            </a:r>
          </a:p>
        </p:txBody>
      </p:sp>
      <p:sp>
        <p:nvSpPr>
          <p:cNvPr id="8" name="Rectangle 7"/>
          <p:cNvSpPr/>
          <p:nvPr/>
        </p:nvSpPr>
        <p:spPr>
          <a:xfrm>
            <a:off x="731520" y="3050000"/>
            <a:ext cx="5029200" cy="36576"/>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20000"/>
            <a:ext cx="5029200" cy="350000"/>
          </a:xfrm>
          <a:prstGeom prst="rect">
            <a:avLst/>
          </a:prstGeom>
          <a:noFill/>
        </p:spPr>
        <p:txBody>
          <a:bodyPr wrap="square">
            <a:spAutoFit/>
          </a:bodyPr>
          <a:lstStyle/>
          <a:p>
            <a:r>
              <a:rPr lang="en-US" sz="1600" b="1">
                <a:solidFill>
                  <a:srgbClr val="5B8DEF"/>
                </a:solidFill>
                <a:latin typeface="Calibri"/>
              </a:rPr>
              <a:t>Why Use Them?</a:t>
            </a:r>
          </a:p>
        </p:txBody>
      </p:sp>
      <p:sp>
        <p:nvSpPr>
          <p:cNvPr id="10" name="TextBox 9"/>
          <p:cNvSpPr txBox="1"/>
          <p:nvPr/>
        </p:nvSpPr>
        <p:spPr>
          <a:xfrm>
            <a:off x="731520" y="3500000"/>
            <a:ext cx="5029200" cy="3000000"/>
          </a:xfrm>
          <a:prstGeom prst="rect">
            <a:avLst/>
          </a:prstGeom>
          <a:noFill/>
        </p:spPr>
        <p:txBody>
          <a:bodyPr wrap="square">
            <a:spAutoFit/>
          </a:bodyPr>
          <a:lstStyle/>
          <a:p>
            <a:pPr>
              <a:spcAft>
                <a:spcPts val="500"/>
              </a:spcAft>
            </a:pPr>
            <a:r>
              <a:rPr lang="en-US" sz="1100">
                <a:solidFill>
                  <a:srgbClr val="5B8DEF"/>
                </a:solidFill>
                <a:latin typeface="Calibri"/>
              </a:rPr>
              <a:t>▸ </a:t>
            </a:r>
            <a:r>
              <a:rPr lang="en-US" sz="1100" b="1">
                <a:solidFill>
                  <a:srgbClr val="FFFFFF"/>
                </a:solidFill>
                <a:latin typeface="Calibri"/>
              </a:rPr>
              <a:t>Connect to your data</a:t>
            </a:r>
            <a:br>
              <a:rPr sz="800"/>
            </a:br>
            <a:r>
              <a:rPr lang="en-US" sz="1000">
                <a:solidFill>
                  <a:srgbClr val="999999"/>
                </a:solidFill>
                <a:latin typeface="Calibri"/>
              </a:rPr>
              <a:t>   Query databases, read spreadsheets, and access file systems directly from conversation</a:t>
            </a:r>
          </a:p>
          <a:p>
            <a:pPr>
              <a:spcAft>
                <a:spcPts val="500"/>
              </a:spcAft>
            </a:pPr>
            <a:r>
              <a:rPr lang="en-US" sz="1100">
                <a:solidFill>
                  <a:srgbClr val="5B8DEF"/>
                </a:solidFill>
                <a:latin typeface="Calibri"/>
              </a:rPr>
              <a:t>▸ </a:t>
            </a:r>
            <a:r>
              <a:rPr lang="en-US" sz="1100" b="1">
                <a:solidFill>
                  <a:srgbClr val="FFFFFF"/>
                </a:solidFill>
                <a:latin typeface="Calibri"/>
              </a:rPr>
              <a:t>No code required</a:t>
            </a:r>
            <a:br>
              <a:rPr sz="800"/>
            </a:br>
            <a:r>
              <a:rPr lang="en-US" sz="1000">
                <a:solidFill>
                  <a:srgbClr val="999999"/>
                </a:solidFill>
                <a:latin typeface="Calibri"/>
              </a:rPr>
              <a:t>   Just install an MCP server and Claude can use it immediately — no scripting needed</a:t>
            </a:r>
          </a:p>
          <a:p>
            <a:pPr>
              <a:spcAft>
                <a:spcPts val="500"/>
              </a:spcAft>
            </a:pPr>
            <a:r>
              <a:rPr lang="en-US" sz="1100">
                <a:solidFill>
                  <a:srgbClr val="5B8DEF"/>
                </a:solidFill>
                <a:latin typeface="Calibri"/>
              </a:rPr>
              <a:t>▸ </a:t>
            </a:r>
            <a:r>
              <a:rPr lang="en-US" sz="1100" b="1">
                <a:solidFill>
                  <a:srgbClr val="FFFFFF"/>
                </a:solidFill>
                <a:latin typeface="Calibri"/>
              </a:rPr>
              <a:t>Keep data local</a:t>
            </a:r>
            <a:br>
              <a:rPr sz="800"/>
            </a:br>
            <a:r>
              <a:rPr lang="en-US" sz="1000">
                <a:solidFill>
                  <a:srgbClr val="999999"/>
                </a:solidFill>
                <a:latin typeface="Calibri"/>
              </a:rPr>
              <a:t>   Many servers run on your machine, so sensitive data never leaves your environment</a:t>
            </a:r>
          </a:p>
          <a:p>
            <a:pPr>
              <a:spcAft>
                <a:spcPts val="500"/>
              </a:spcAft>
            </a:pPr>
            <a:r>
              <a:rPr lang="en-US" sz="1100">
                <a:solidFill>
                  <a:srgbClr val="5B8DEF"/>
                </a:solidFill>
                <a:latin typeface="Calibri"/>
              </a:rPr>
              <a:t>▸ </a:t>
            </a:r>
            <a:r>
              <a:rPr lang="en-US" sz="1100" b="1">
                <a:solidFill>
                  <a:srgbClr val="FFFFFF"/>
                </a:solidFill>
                <a:latin typeface="Calibri"/>
              </a:rPr>
              <a:t>Extend infinitely</a:t>
            </a:r>
            <a:br>
              <a:rPr sz="800"/>
            </a:br>
            <a:r>
              <a:rPr lang="en-US" sz="1000">
                <a:solidFill>
                  <a:srgbClr val="999999"/>
                </a:solidFill>
                <a:latin typeface="Calibri"/>
              </a:rPr>
              <a:t>   Hundreds of community-built servers exist for Slack, GitHub, Google Drive, Notion, and more</a:t>
            </a:r>
          </a:p>
        </p:txBody>
      </p:sp>
      <p:sp>
        <p:nvSpPr>
          <p:cNvPr id="11" name="Rectangle 10"/>
          <p:cNvSpPr/>
          <p:nvPr/>
        </p:nvSpPr>
        <p:spPr>
          <a:xfrm>
            <a:off x="6583680" y="1350000"/>
            <a:ext cx="5029200" cy="36576"/>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420000"/>
            <a:ext cx="5029200" cy="350000"/>
          </a:xfrm>
          <a:prstGeom prst="rect">
            <a:avLst/>
          </a:prstGeom>
          <a:noFill/>
        </p:spPr>
        <p:txBody>
          <a:bodyPr wrap="square">
            <a:spAutoFit/>
          </a:bodyPr>
          <a:lstStyle/>
          <a:p>
            <a:r>
              <a:rPr lang="en-US" sz="1600" b="1">
                <a:solidFill>
                  <a:srgbClr val="9B6EE7"/>
                </a:solidFill>
                <a:latin typeface="Calibri"/>
              </a:rPr>
              <a:t>Example: Filesystem Server + Desktop App</a:t>
            </a:r>
          </a:p>
        </p:txBody>
      </p:sp>
      <p:sp>
        <p:nvSpPr>
          <p:cNvPr id="13" name="TextBox 12"/>
          <p:cNvSpPr txBox="1"/>
          <p:nvPr/>
        </p:nvSpPr>
        <p:spPr>
          <a:xfrm>
            <a:off x="6583680" y="1800000"/>
            <a:ext cx="5029200" cy="600000"/>
          </a:xfrm>
          <a:prstGeom prst="rect">
            <a:avLst/>
          </a:prstGeom>
          <a:noFill/>
        </p:spPr>
        <p:txBody>
          <a:bodyPr wrap="square">
            <a:spAutoFit/>
          </a:bodyPr>
          <a:lstStyle/>
          <a:p>
            <a:r>
              <a:rPr lang="en-US" sz="1100">
                <a:solidFill>
                  <a:srgbClr val="BBBBBB"/>
                </a:solidFill>
                <a:latin typeface="Calibri"/>
              </a:rPr>
              <a:t>The Filesystem MCP server lets Claude read and search files in folders you specify — perfect for analyzing local data without uploading anything.</a:t>
            </a:r>
          </a:p>
        </p:txBody>
      </p:sp>
      <p:sp>
        <p:nvSpPr>
          <p:cNvPr id="14" name="TextBox 13"/>
          <p:cNvSpPr txBox="1"/>
          <p:nvPr/>
        </p:nvSpPr>
        <p:spPr>
          <a:xfrm>
            <a:off x="6583680" y="2500000"/>
            <a:ext cx="5029200" cy="300000"/>
          </a:xfrm>
          <a:prstGeom prst="rect">
            <a:avLst/>
          </a:prstGeom>
          <a:noFill/>
        </p:spPr>
        <p:txBody>
          <a:bodyPr wrap="square">
            <a:spAutoFit/>
          </a:bodyPr>
          <a:lstStyle/>
          <a:p>
            <a:r>
              <a:rPr lang="en-US" sz="1400" b="1">
                <a:solidFill>
                  <a:srgbClr val="9B6EE7"/>
                </a:solidFill>
                <a:latin typeface="Calibri"/>
              </a:rPr>
              <a:t>1</a:t>
            </a:r>
            <a:r>
              <a:rPr lang="en-US" sz="1200" b="1">
                <a:solidFill>
                  <a:srgbClr val="FFFFFF"/>
                </a:solidFill>
                <a:latin typeface="Calibri"/>
              </a:rPr>
              <a:t>  Open Claude Desktop settings</a:t>
            </a:r>
          </a:p>
        </p:txBody>
      </p:sp>
      <p:sp>
        <p:nvSpPr>
          <p:cNvPr id="15" name="TextBox 14"/>
          <p:cNvSpPr txBox="1"/>
          <p:nvPr/>
        </p:nvSpPr>
        <p:spPr>
          <a:xfrm>
            <a:off x="6900000" y="2800000"/>
            <a:ext cx="4700000" cy="350000"/>
          </a:xfrm>
          <a:prstGeom prst="rect">
            <a:avLst/>
          </a:prstGeom>
          <a:noFill/>
        </p:spPr>
        <p:txBody>
          <a:bodyPr wrap="square">
            <a:spAutoFit/>
          </a:bodyPr>
          <a:lstStyle/>
          <a:p>
            <a:r>
              <a:rPr lang="en-US" sz="1000">
                <a:solidFill>
                  <a:srgbClr val="999999"/>
                </a:solidFill>
                <a:latin typeface="Calibri"/>
              </a:rPr>
              <a:t>Settings → Developer → Edit Config</a:t>
            </a:r>
          </a:p>
        </p:txBody>
      </p:sp>
      <p:sp>
        <p:nvSpPr>
          <p:cNvPr id="16" name="TextBox 15"/>
          <p:cNvSpPr txBox="1"/>
          <p:nvPr/>
        </p:nvSpPr>
        <p:spPr>
          <a:xfrm>
            <a:off x="6583680" y="3200000"/>
            <a:ext cx="5029200" cy="300000"/>
          </a:xfrm>
          <a:prstGeom prst="rect">
            <a:avLst/>
          </a:prstGeom>
          <a:noFill/>
        </p:spPr>
        <p:txBody>
          <a:bodyPr wrap="square">
            <a:spAutoFit/>
          </a:bodyPr>
          <a:lstStyle/>
          <a:p>
            <a:r>
              <a:rPr lang="en-US" sz="1400" b="1">
                <a:solidFill>
                  <a:srgbClr val="9B6EE7"/>
                </a:solidFill>
                <a:latin typeface="Calibri"/>
              </a:rPr>
              <a:t>2</a:t>
            </a:r>
            <a:r>
              <a:rPr lang="en-US" sz="1200" b="1">
                <a:solidFill>
                  <a:srgbClr val="FFFFFF"/>
                </a:solidFill>
                <a:latin typeface="Calibri"/>
              </a:rPr>
              <a:t>  Add this to your config file</a:t>
            </a:r>
          </a:p>
        </p:txBody>
      </p:sp>
      <p:sp>
        <p:nvSpPr>
          <p:cNvPr id="17" name="Rounded Rectangle 16"/>
          <p:cNvSpPr/>
          <p:nvPr/>
        </p:nvSpPr>
        <p:spPr>
          <a:xfrm>
            <a:off x="6583680" y="3550000"/>
            <a:ext cx="5029200" cy="1900000"/>
          </a:xfrm>
          <a:prstGeom prst="round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05000"/>
              </a:lnSpc>
            </a:pPr>
            <a:r>
              <a:rPr lang="en-US" sz="900">
                <a:solidFill>
                  <a:srgbClr val="4EC98B"/>
                </a:solidFill>
                <a:latin typeface="Consolas"/>
              </a:rPr>
              <a:t>{</a:t>
            </a:r>
          </a:p>
          <a:p>
            <a:pPr>
              <a:lnSpc>
                <a:spcPct val="105000"/>
              </a:lnSpc>
            </a:pPr>
            <a:r>
              <a:rPr lang="en-US" sz="900">
                <a:solidFill>
                  <a:srgbClr val="4EC98B"/>
                </a:solidFill>
                <a:latin typeface="Consolas"/>
              </a:rPr>
              <a:t>  "mcpServers": {</a:t>
            </a:r>
          </a:p>
          <a:p>
            <a:pPr>
              <a:lnSpc>
                <a:spcPct val="105000"/>
              </a:lnSpc>
            </a:pPr>
            <a:r>
              <a:rPr lang="en-US" sz="900">
                <a:solidFill>
                  <a:srgbClr val="4EC98B"/>
                </a:solidFill>
                <a:latin typeface="Consolas"/>
              </a:rPr>
              <a:t>    "filesystem": {</a:t>
            </a:r>
          </a:p>
          <a:p>
            <a:pPr>
              <a:lnSpc>
                <a:spcPct val="105000"/>
              </a:lnSpc>
            </a:pPr>
            <a:r>
              <a:rPr lang="en-US" sz="900">
                <a:solidFill>
                  <a:srgbClr val="4EC98B"/>
                </a:solidFill>
                <a:latin typeface="Consolas"/>
              </a:rPr>
              <a:t>      "command": "npx",</a:t>
            </a:r>
          </a:p>
          <a:p>
            <a:pPr>
              <a:lnSpc>
                <a:spcPct val="105000"/>
              </a:lnSpc>
            </a:pPr>
            <a:r>
              <a:rPr lang="en-US" sz="900">
                <a:solidFill>
                  <a:srgbClr val="4EC98B"/>
                </a:solidFill>
                <a:latin typeface="Consolas"/>
              </a:rPr>
              <a:t>      "args": [</a:t>
            </a:r>
          </a:p>
          <a:p>
            <a:pPr>
              <a:lnSpc>
                <a:spcPct val="105000"/>
              </a:lnSpc>
            </a:pPr>
            <a:r>
              <a:rPr lang="en-US" sz="900">
                <a:solidFill>
                  <a:srgbClr val="4EC98B"/>
                </a:solidFill>
                <a:latin typeface="Consolas"/>
              </a:rPr>
              <a:t>        "-y",</a:t>
            </a:r>
          </a:p>
          <a:p>
            <a:pPr>
              <a:lnSpc>
                <a:spcPct val="105000"/>
              </a:lnSpc>
            </a:pPr>
            <a:r>
              <a:rPr lang="en-US" sz="900">
                <a:solidFill>
                  <a:srgbClr val="4EC98B"/>
                </a:solidFill>
                <a:latin typeface="Consolas"/>
              </a:rPr>
              <a:t>        "@modelcontextprotocol/server-filesystem",</a:t>
            </a:r>
          </a:p>
          <a:p>
            <a:pPr>
              <a:lnSpc>
                <a:spcPct val="105000"/>
              </a:lnSpc>
            </a:pPr>
            <a:r>
              <a:rPr lang="en-US" sz="900">
                <a:solidFill>
                  <a:srgbClr val="4EC98B"/>
                </a:solidFill>
                <a:latin typeface="Consolas"/>
              </a:rPr>
              <a:t>        "/Users/you/Documents/data"</a:t>
            </a:r>
          </a:p>
          <a:p>
            <a:pPr>
              <a:lnSpc>
                <a:spcPct val="105000"/>
              </a:lnSpc>
            </a:pPr>
            <a:r>
              <a:rPr lang="en-US" sz="900">
                <a:solidFill>
                  <a:srgbClr val="4EC98B"/>
                </a:solidFill>
                <a:latin typeface="Consolas"/>
              </a:rPr>
              <a:t>      ]</a:t>
            </a:r>
          </a:p>
          <a:p>
            <a:pPr>
              <a:lnSpc>
                <a:spcPct val="105000"/>
              </a:lnSpc>
            </a:pPr>
            <a:r>
              <a:rPr lang="en-US" sz="900">
                <a:solidFill>
                  <a:srgbClr val="4EC98B"/>
                </a:solidFill>
                <a:latin typeface="Consolas"/>
              </a:rPr>
              <a:t>    }</a:t>
            </a:r>
          </a:p>
          <a:p>
            <a:pPr>
              <a:lnSpc>
                <a:spcPct val="105000"/>
              </a:lnSpc>
            </a:pPr>
            <a:r>
              <a:rPr lang="en-US" sz="900">
                <a:solidFill>
                  <a:srgbClr val="4EC98B"/>
                </a:solidFill>
                <a:latin typeface="Consolas"/>
              </a:rPr>
              <a:t>  }</a:t>
            </a:r>
          </a:p>
          <a:p>
            <a:pPr>
              <a:lnSpc>
                <a:spcPct val="105000"/>
              </a:lnSpc>
            </a:pPr>
            <a:r>
              <a:rPr lang="en-US" sz="900">
                <a:solidFill>
                  <a:srgbClr val="4EC98B"/>
                </a:solidFill>
                <a:latin typeface="Consolas"/>
              </a:rPr>
              <a:t>}</a:t>
            </a:r>
          </a:p>
        </p:txBody>
      </p:sp>
      <p:sp>
        <p:nvSpPr>
          <p:cNvPr id="18" name="TextBox 17"/>
          <p:cNvSpPr txBox="1"/>
          <p:nvPr/>
        </p:nvSpPr>
        <p:spPr>
          <a:xfrm>
            <a:off x="6583680" y="5550000"/>
            <a:ext cx="5029200" cy="300000"/>
          </a:xfrm>
          <a:prstGeom prst="rect">
            <a:avLst/>
          </a:prstGeom>
          <a:noFill/>
        </p:spPr>
        <p:txBody>
          <a:bodyPr wrap="square">
            <a:spAutoFit/>
          </a:bodyPr>
          <a:lstStyle/>
          <a:p>
            <a:r>
              <a:rPr lang="en-US" sz="1400" b="1">
                <a:solidFill>
                  <a:srgbClr val="9B6EE7"/>
                </a:solidFill>
                <a:latin typeface="Calibri"/>
              </a:rPr>
              <a:t>3</a:t>
            </a:r>
            <a:r>
              <a:rPr lang="en-US" sz="1200" b="1">
                <a:solidFill>
                  <a:srgbClr val="FFFFFF"/>
                </a:solidFill>
                <a:latin typeface="Calibri"/>
              </a:rPr>
              <a:t>  Restart Claude and ask away</a:t>
            </a:r>
          </a:p>
        </p:txBody>
      </p:sp>
      <p:sp>
        <p:nvSpPr>
          <p:cNvPr id="19" name="TextBox 18"/>
          <p:cNvSpPr txBox="1"/>
          <p:nvPr/>
        </p:nvSpPr>
        <p:spPr>
          <a:xfrm>
            <a:off x="6900000" y="5850000"/>
            <a:ext cx="4700000" cy="500000"/>
          </a:xfrm>
          <a:prstGeom prst="rect">
            <a:avLst/>
          </a:prstGeom>
          <a:noFill/>
        </p:spPr>
        <p:txBody>
          <a:bodyPr wrap="square">
            <a:spAutoFit/>
          </a:bodyPr>
          <a:lstStyle/>
          <a:p>
            <a:r>
              <a:rPr lang="en-US" sz="1000" i="1">
                <a:solidFill>
                  <a:srgbClr val="FFFFFF"/>
                </a:solidFill>
                <a:latin typeface="Calibri"/>
              </a:rPr>
              <a:t>"Read all the CSV files in my data folder and summarize what's in each 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Best Practices</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5212080" cy="20116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63040"/>
            <a:ext cx="45720" cy="2011680"/>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00200"/>
            <a:ext cx="4846320" cy="320040"/>
          </a:xfrm>
          <a:prstGeom prst="rect">
            <a:avLst/>
          </a:prstGeom>
          <a:noFill/>
        </p:spPr>
        <p:txBody>
          <a:bodyPr wrap="square">
            <a:spAutoFit/>
          </a:bodyPr>
          <a:lstStyle/>
          <a:p>
            <a:pPr algn="l">
              <a:defRPr sz="1700" b="1">
                <a:solidFill>
                  <a:srgbClr val="4EC98B"/>
                </a:solidFill>
                <a:latin typeface="Calibri"/>
              </a:defRPr>
            </a:pPr>
            <a:r>
              <a:t>Be Specific with Prompts</a:t>
            </a:r>
          </a:p>
        </p:txBody>
      </p:sp>
      <p:sp>
        <p:nvSpPr>
          <p:cNvPr id="7" name="TextBox 6"/>
          <p:cNvSpPr txBox="1"/>
          <p:nvPr/>
        </p:nvSpPr>
        <p:spPr>
          <a:xfrm>
            <a:off x="960120" y="1965960"/>
            <a:ext cx="4846320" cy="594360"/>
          </a:xfrm>
          <a:prstGeom prst="rect">
            <a:avLst/>
          </a:prstGeom>
          <a:noFill/>
        </p:spPr>
        <p:txBody>
          <a:bodyPr wrap="square">
            <a:spAutoFit/>
          </a:bodyPr>
          <a:lstStyle/>
          <a:p>
            <a:pPr algn="l">
              <a:defRPr sz="1200" b="0">
                <a:solidFill>
                  <a:srgbClr val="B0B0B8"/>
                </a:solidFill>
                <a:latin typeface="Calibri"/>
              </a:defRPr>
            </a:pPr>
            <a:r>
              <a:t>Instead of "analyze this data," say "calculate the 90-day rolling churn rate by customer segment and flag segments above 15%." Specificity yields better results.</a:t>
            </a:r>
          </a:p>
        </p:txBody>
      </p:sp>
      <p:sp>
        <p:nvSpPr>
          <p:cNvPr id="8" name="Rounded Rectangle 7"/>
          <p:cNvSpPr/>
          <p:nvPr/>
        </p:nvSpPr>
        <p:spPr>
          <a:xfrm>
            <a:off x="868680" y="2651760"/>
            <a:ext cx="4937760" cy="73152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  Vague: "Look at the data"</a:t>
            </a:r>
          </a:p>
          <a:p>
            <a:pPr>
              <a:spcAft>
                <a:spcPts val="200"/>
              </a:spcAft>
              <a:defRPr sz="1000">
                <a:solidFill>
                  <a:srgbClr val="E0E0E4"/>
                </a:solidFill>
                <a:latin typeface="Consolas"/>
              </a:defRPr>
            </a:pPr>
            <a:r>
              <a:t>▶  Better: "Show the distribution of order values by region, with median and P95 stats"</a:t>
            </a:r>
          </a:p>
        </p:txBody>
      </p:sp>
      <p:sp>
        <p:nvSpPr>
          <p:cNvPr id="9" name="Rounded Rectangle 8"/>
          <p:cNvSpPr/>
          <p:nvPr/>
        </p:nvSpPr>
        <p:spPr>
          <a:xfrm>
            <a:off x="6309360" y="1463040"/>
            <a:ext cx="5212080" cy="20116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463040"/>
            <a:ext cx="45720" cy="201168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1600200"/>
            <a:ext cx="4846320" cy="320040"/>
          </a:xfrm>
          <a:prstGeom prst="rect">
            <a:avLst/>
          </a:prstGeom>
          <a:noFill/>
        </p:spPr>
        <p:txBody>
          <a:bodyPr wrap="square">
            <a:spAutoFit/>
          </a:bodyPr>
          <a:lstStyle/>
          <a:p>
            <a:pPr algn="l">
              <a:defRPr sz="1700" b="1">
                <a:solidFill>
                  <a:srgbClr val="5B8DEF"/>
                </a:solidFill>
                <a:latin typeface="Calibri"/>
              </a:defRPr>
            </a:pPr>
            <a:r>
              <a:t>Verify Results</a:t>
            </a:r>
          </a:p>
        </p:txBody>
      </p:sp>
      <p:sp>
        <p:nvSpPr>
          <p:cNvPr id="12" name="TextBox 11"/>
          <p:cNvSpPr txBox="1"/>
          <p:nvPr/>
        </p:nvSpPr>
        <p:spPr>
          <a:xfrm>
            <a:off x="6537960" y="1965960"/>
            <a:ext cx="4846320" cy="594360"/>
          </a:xfrm>
          <a:prstGeom prst="rect">
            <a:avLst/>
          </a:prstGeom>
          <a:noFill/>
        </p:spPr>
        <p:txBody>
          <a:bodyPr wrap="square">
            <a:spAutoFit/>
          </a:bodyPr>
          <a:lstStyle/>
          <a:p>
            <a:pPr algn="l">
              <a:defRPr sz="1200" b="0">
                <a:solidFill>
                  <a:srgbClr val="B0B0B8"/>
                </a:solidFill>
                <a:latin typeface="Calibri"/>
              </a:defRPr>
            </a:pPr>
            <a:r>
              <a:t>Always spot-check Claude's outputs. Ask it to show intermediate steps, validate row counts, and cross-check totals against known values.</a:t>
            </a:r>
          </a:p>
        </p:txBody>
      </p:sp>
      <p:sp>
        <p:nvSpPr>
          <p:cNvPr id="13" name="Rounded Rectangle 12"/>
          <p:cNvSpPr/>
          <p:nvPr/>
        </p:nvSpPr>
        <p:spPr>
          <a:xfrm>
            <a:off x="6446520" y="2651760"/>
            <a:ext cx="4937760" cy="73152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  "Show me the row count before and after each filter step"</a:t>
            </a:r>
          </a:p>
          <a:p>
            <a:pPr>
              <a:spcAft>
                <a:spcPts val="200"/>
              </a:spcAft>
              <a:defRPr sz="1000">
                <a:solidFill>
                  <a:srgbClr val="E0E0E4"/>
                </a:solidFill>
                <a:latin typeface="Consolas"/>
              </a:defRPr>
            </a:pPr>
            <a:r>
              <a:t>▶  "Cross-check the total revenue against the summary table"</a:t>
            </a:r>
          </a:p>
        </p:txBody>
      </p:sp>
      <p:sp>
        <p:nvSpPr>
          <p:cNvPr id="14" name="Rounded Rectangle 13"/>
          <p:cNvSpPr/>
          <p:nvPr/>
        </p:nvSpPr>
        <p:spPr>
          <a:xfrm>
            <a:off x="731520" y="3749040"/>
            <a:ext cx="5212080" cy="20116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3749040"/>
            <a:ext cx="45720" cy="2011680"/>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3886200"/>
            <a:ext cx="4846320" cy="320040"/>
          </a:xfrm>
          <a:prstGeom prst="rect">
            <a:avLst/>
          </a:prstGeom>
          <a:noFill/>
        </p:spPr>
        <p:txBody>
          <a:bodyPr wrap="square">
            <a:spAutoFit/>
          </a:bodyPr>
          <a:lstStyle/>
          <a:p>
            <a:pPr algn="l">
              <a:defRPr sz="1700" b="1">
                <a:solidFill>
                  <a:srgbClr val="9B6EE7"/>
                </a:solidFill>
                <a:latin typeface="Calibri"/>
              </a:defRPr>
            </a:pPr>
            <a:r>
              <a:t>Save &amp; Version Scripts</a:t>
            </a:r>
          </a:p>
        </p:txBody>
      </p:sp>
      <p:sp>
        <p:nvSpPr>
          <p:cNvPr id="17" name="TextBox 16"/>
          <p:cNvSpPr txBox="1"/>
          <p:nvPr/>
        </p:nvSpPr>
        <p:spPr>
          <a:xfrm>
            <a:off x="960120" y="4251960"/>
            <a:ext cx="4846320" cy="594360"/>
          </a:xfrm>
          <a:prstGeom prst="rect">
            <a:avLst/>
          </a:prstGeom>
          <a:noFill/>
        </p:spPr>
        <p:txBody>
          <a:bodyPr wrap="square">
            <a:spAutoFit/>
          </a:bodyPr>
          <a:lstStyle/>
          <a:p>
            <a:pPr algn="l">
              <a:defRPr sz="1200" b="0">
                <a:solidFill>
                  <a:srgbClr val="B0B0B8"/>
                </a:solidFill>
                <a:latin typeface="Calibri"/>
              </a:defRPr>
            </a:pPr>
            <a:r>
              <a:t>Ask Claude to save analysis scripts to files so you can re-run, share, and version control your work. Reproducibility matters.</a:t>
            </a:r>
          </a:p>
        </p:txBody>
      </p:sp>
      <p:sp>
        <p:nvSpPr>
          <p:cNvPr id="18" name="Rounded Rectangle 17"/>
          <p:cNvSpPr/>
          <p:nvPr/>
        </p:nvSpPr>
        <p:spPr>
          <a:xfrm>
            <a:off x="868680" y="4937760"/>
            <a:ext cx="4937760" cy="73152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  "Save this analysis as a Python script I can re-run"</a:t>
            </a:r>
          </a:p>
          <a:p>
            <a:pPr>
              <a:spcAft>
                <a:spcPts val="200"/>
              </a:spcAft>
              <a:defRPr sz="1000">
                <a:solidFill>
                  <a:srgbClr val="E0E0E4"/>
                </a:solidFill>
                <a:latin typeface="Consolas"/>
              </a:defRPr>
            </a:pPr>
            <a:r>
              <a:t>▶  "Add docstrings explaining each transformation step"</a:t>
            </a:r>
          </a:p>
        </p:txBody>
      </p:sp>
      <p:sp>
        <p:nvSpPr>
          <p:cNvPr id="19" name="Rounded Rectangle 18"/>
          <p:cNvSpPr/>
          <p:nvPr/>
        </p:nvSpPr>
        <p:spPr>
          <a:xfrm>
            <a:off x="6309360" y="3749040"/>
            <a:ext cx="5212080" cy="20116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60" y="3749040"/>
            <a:ext cx="45720" cy="2011680"/>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3886200"/>
            <a:ext cx="4846320" cy="320040"/>
          </a:xfrm>
          <a:prstGeom prst="rect">
            <a:avLst/>
          </a:prstGeom>
          <a:noFill/>
        </p:spPr>
        <p:txBody>
          <a:bodyPr wrap="square">
            <a:spAutoFit/>
          </a:bodyPr>
          <a:lstStyle/>
          <a:p>
            <a:pPr algn="l">
              <a:defRPr sz="1700" b="1">
                <a:solidFill>
                  <a:srgbClr val="D47B2A"/>
                </a:solidFill>
                <a:latin typeface="Calibri"/>
              </a:defRPr>
            </a:pPr>
            <a:r>
              <a:t>Use CLAUDE.md Effectively</a:t>
            </a:r>
          </a:p>
        </p:txBody>
      </p:sp>
      <p:sp>
        <p:nvSpPr>
          <p:cNvPr id="22" name="TextBox 21"/>
          <p:cNvSpPr txBox="1"/>
          <p:nvPr/>
        </p:nvSpPr>
        <p:spPr>
          <a:xfrm>
            <a:off x="6537960" y="4251960"/>
            <a:ext cx="4846320" cy="594360"/>
          </a:xfrm>
          <a:prstGeom prst="rect">
            <a:avLst/>
          </a:prstGeom>
          <a:noFill/>
        </p:spPr>
        <p:txBody>
          <a:bodyPr wrap="square">
            <a:spAutoFit/>
          </a:bodyPr>
          <a:lstStyle/>
          <a:p>
            <a:pPr algn="l">
              <a:defRPr sz="1200" b="0">
                <a:solidFill>
                  <a:srgbClr val="B0B0B8"/>
                </a:solidFill>
                <a:latin typeface="Calibri"/>
              </a:defRPr>
            </a:pPr>
            <a:r>
              <a:t>Document your data schema, naming conventions, and business rules in a CLAUDE.md file. This eliminates repetitive explanations.</a:t>
            </a:r>
          </a:p>
        </p:txBody>
      </p:sp>
      <p:sp>
        <p:nvSpPr>
          <p:cNvPr id="23" name="Rounded Rectangle 22"/>
          <p:cNvSpPr/>
          <p:nvPr/>
        </p:nvSpPr>
        <p:spPr>
          <a:xfrm>
            <a:off x="6446520" y="4937760"/>
            <a:ext cx="4937760" cy="731520"/>
          </a:xfrm>
          <a:prstGeom prst="roundRect">
            <a:avLst>
              <a:gd name="adj" fmla="val 3000"/>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ctr">
              <a:spcAft>
                <a:spcPts val="200"/>
              </a:spcAft>
              <a:defRPr sz="1000">
                <a:solidFill>
                  <a:srgbClr val="E0E0E4"/>
                </a:solidFill>
                <a:latin typeface="Consolas"/>
              </a:defRPr>
            </a:pPr>
            <a:r>
              <a:t>▶  Include column descriptions, valid ranges, and known quirks</a:t>
            </a:r>
          </a:p>
          <a:p>
            <a:pPr>
              <a:spcAft>
                <a:spcPts val="200"/>
              </a:spcAft>
              <a:defRPr sz="1000">
                <a:solidFill>
                  <a:srgbClr val="E0E0E4"/>
                </a:solidFill>
                <a:latin typeface="Consolas"/>
              </a:defRPr>
            </a:pPr>
            <a:r>
              <a:t>▶  Specify preferred chart styles, date formats, and output locations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Claude Code vs ChatGPT for Data Analysis</a:t>
            </a:r>
          </a:p>
        </p:txBody>
      </p:sp>
      <p:sp>
        <p:nvSpPr>
          <p:cNvPr id="3" name="Rectangle 2"/>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2926080" cy="502920"/>
          </a:xfrm>
          <a:prstGeom prst="roundRect">
            <a:avLst>
              <a:gd name="adj" fmla="val 2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749040" y="1463040"/>
            <a:ext cx="4114800" cy="502920"/>
          </a:xfrm>
          <a:prstGeom prst="roundRect">
            <a:avLst>
              <a:gd name="adj" fmla="val 2000"/>
            </a:avLst>
          </a:prstGeom>
          <a:solidFill>
            <a:srgbClr val="1A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955280" y="1463040"/>
            <a:ext cx="4114800" cy="502920"/>
          </a:xfrm>
          <a:prstGeom prst="roundRect">
            <a:avLst>
              <a:gd name="adj" fmla="val 2000"/>
            </a:avLst>
          </a:prstGeom>
          <a:solidFill>
            <a:srgbClr val="2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36192"/>
            <a:ext cx="2926080" cy="365760"/>
          </a:xfrm>
          <a:prstGeom prst="rect">
            <a:avLst/>
          </a:prstGeom>
          <a:noFill/>
        </p:spPr>
        <p:txBody>
          <a:bodyPr wrap="square">
            <a:spAutoFit/>
          </a:bodyPr>
          <a:lstStyle/>
          <a:p>
            <a:pPr algn="l">
              <a:defRPr sz="1500" b="1">
                <a:solidFill>
                  <a:srgbClr val="B0B0B8"/>
                </a:solidFill>
                <a:latin typeface="Calibri"/>
              </a:defRPr>
            </a:pPr>
            <a:r>
              <a:t>Capability</a:t>
            </a:r>
          </a:p>
        </p:txBody>
      </p:sp>
      <p:sp>
        <p:nvSpPr>
          <p:cNvPr id="8" name="TextBox 7"/>
          <p:cNvSpPr txBox="1"/>
          <p:nvPr/>
        </p:nvSpPr>
        <p:spPr>
          <a:xfrm>
            <a:off x="3931920" y="1536192"/>
            <a:ext cx="4114800" cy="365760"/>
          </a:xfrm>
          <a:prstGeom prst="rect">
            <a:avLst/>
          </a:prstGeom>
          <a:noFill/>
        </p:spPr>
        <p:txBody>
          <a:bodyPr wrap="square">
            <a:spAutoFit/>
          </a:bodyPr>
          <a:lstStyle/>
          <a:p>
            <a:pPr algn="l">
              <a:defRPr sz="1500" b="1">
                <a:solidFill>
                  <a:srgbClr val="4EC98B"/>
                </a:solidFill>
                <a:latin typeface="Calibri"/>
              </a:defRPr>
            </a:pPr>
            <a:r>
              <a:t>Anthropic  ·  Claude Code</a:t>
            </a:r>
          </a:p>
        </p:txBody>
      </p:sp>
      <p:sp>
        <p:nvSpPr>
          <p:cNvPr id="9" name="TextBox 8"/>
          <p:cNvSpPr txBox="1"/>
          <p:nvPr/>
        </p:nvSpPr>
        <p:spPr>
          <a:xfrm>
            <a:off x="8138160" y="1536192"/>
            <a:ext cx="4114800" cy="365760"/>
          </a:xfrm>
          <a:prstGeom prst="rect">
            <a:avLst/>
          </a:prstGeom>
          <a:noFill/>
        </p:spPr>
        <p:txBody>
          <a:bodyPr wrap="square">
            <a:spAutoFit/>
          </a:bodyPr>
          <a:lstStyle/>
          <a:p>
            <a:pPr algn="l">
              <a:defRPr sz="1500" b="1">
                <a:solidFill>
                  <a:srgbClr val="E05E7E"/>
                </a:solidFill>
                <a:latin typeface="Calibri"/>
              </a:defRPr>
            </a:pPr>
            <a:r>
              <a:t>OpenAI  ·  ChatGPT</a:t>
            </a:r>
          </a:p>
        </p:txBody>
      </p:sp>
      <p:sp>
        <p:nvSpPr>
          <p:cNvPr id="10" name="Rounded Rectangle 9"/>
          <p:cNvSpPr/>
          <p:nvPr/>
        </p:nvSpPr>
        <p:spPr>
          <a:xfrm>
            <a:off x="731520" y="2020824"/>
            <a:ext cx="292608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49040" y="2020824"/>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955280" y="2020824"/>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093976"/>
            <a:ext cx="2651760" cy="365760"/>
          </a:xfrm>
          <a:prstGeom prst="rect">
            <a:avLst/>
          </a:prstGeom>
          <a:noFill/>
        </p:spPr>
        <p:txBody>
          <a:bodyPr wrap="square">
            <a:spAutoFit/>
          </a:bodyPr>
          <a:lstStyle/>
          <a:p>
            <a:pPr algn="l">
              <a:defRPr sz="1200" b="1">
                <a:solidFill>
                  <a:srgbClr val="D47B2A"/>
                </a:solidFill>
                <a:latin typeface="Calibri"/>
              </a:defRPr>
            </a:pPr>
            <a:r>
              <a:t>Environment</a:t>
            </a:r>
          </a:p>
        </p:txBody>
      </p:sp>
      <p:sp>
        <p:nvSpPr>
          <p:cNvPr id="14" name="TextBox 13"/>
          <p:cNvSpPr txBox="1"/>
          <p:nvPr/>
        </p:nvSpPr>
        <p:spPr>
          <a:xfrm>
            <a:off x="3931920" y="2066544"/>
            <a:ext cx="3840480" cy="411480"/>
          </a:xfrm>
          <a:prstGeom prst="rect">
            <a:avLst/>
          </a:prstGeom>
          <a:noFill/>
        </p:spPr>
        <p:txBody>
          <a:bodyPr wrap="square">
            <a:spAutoFit/>
          </a:bodyPr>
          <a:lstStyle/>
          <a:p>
            <a:pPr algn="l">
              <a:defRPr sz="1100" b="0">
                <a:solidFill>
                  <a:srgbClr val="E0E0E4"/>
                </a:solidFill>
                <a:latin typeface="Calibri"/>
              </a:defRPr>
            </a:pPr>
            <a:r>
              <a:t>Runs in your local terminal with full access to your files, tools, and environment</a:t>
            </a:r>
          </a:p>
        </p:txBody>
      </p:sp>
      <p:sp>
        <p:nvSpPr>
          <p:cNvPr id="15" name="TextBox 14"/>
          <p:cNvSpPr txBox="1"/>
          <p:nvPr/>
        </p:nvSpPr>
        <p:spPr>
          <a:xfrm>
            <a:off x="8138160" y="2066544"/>
            <a:ext cx="3840480" cy="411480"/>
          </a:xfrm>
          <a:prstGeom prst="rect">
            <a:avLst/>
          </a:prstGeom>
          <a:noFill/>
        </p:spPr>
        <p:txBody>
          <a:bodyPr wrap="square">
            <a:spAutoFit/>
          </a:bodyPr>
          <a:lstStyle/>
          <a:p>
            <a:pPr algn="l">
              <a:defRPr sz="1100" b="0">
                <a:solidFill>
                  <a:srgbClr val="E0E0E4"/>
                </a:solidFill>
                <a:latin typeface="Calibri"/>
              </a:defRPr>
            </a:pPr>
            <a:r>
              <a:t>Browser-based sandbox with file upload; no access to local environment</a:t>
            </a:r>
          </a:p>
        </p:txBody>
      </p:sp>
      <p:sp>
        <p:nvSpPr>
          <p:cNvPr id="16" name="Rounded Rectangle 15"/>
          <p:cNvSpPr/>
          <p:nvPr/>
        </p:nvSpPr>
        <p:spPr>
          <a:xfrm>
            <a:off x="731520" y="2578608"/>
            <a:ext cx="292608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749040" y="2578608"/>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955280" y="2578608"/>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2651760"/>
            <a:ext cx="2651760" cy="365760"/>
          </a:xfrm>
          <a:prstGeom prst="rect">
            <a:avLst/>
          </a:prstGeom>
          <a:noFill/>
        </p:spPr>
        <p:txBody>
          <a:bodyPr wrap="square">
            <a:spAutoFit/>
          </a:bodyPr>
          <a:lstStyle/>
          <a:p>
            <a:pPr algn="l">
              <a:defRPr sz="1200" b="1">
                <a:solidFill>
                  <a:srgbClr val="D47B2A"/>
                </a:solidFill>
                <a:latin typeface="Calibri"/>
              </a:defRPr>
            </a:pPr>
            <a:r>
              <a:t>Code Execution</a:t>
            </a:r>
          </a:p>
        </p:txBody>
      </p:sp>
      <p:sp>
        <p:nvSpPr>
          <p:cNvPr id="20" name="TextBox 19"/>
          <p:cNvSpPr txBox="1"/>
          <p:nvPr/>
        </p:nvSpPr>
        <p:spPr>
          <a:xfrm>
            <a:off x="3931920" y="2624328"/>
            <a:ext cx="3840480" cy="411480"/>
          </a:xfrm>
          <a:prstGeom prst="rect">
            <a:avLst/>
          </a:prstGeom>
          <a:noFill/>
        </p:spPr>
        <p:txBody>
          <a:bodyPr wrap="square">
            <a:spAutoFit/>
          </a:bodyPr>
          <a:lstStyle/>
          <a:p>
            <a:pPr algn="l">
              <a:defRPr sz="1100" b="0">
                <a:solidFill>
                  <a:srgbClr val="E0E0E4"/>
                </a:solidFill>
                <a:latin typeface="Calibri"/>
              </a:defRPr>
            </a:pPr>
            <a:r>
              <a:t>Executes code locally — use your own Python env, packages, databases, and hardware</a:t>
            </a:r>
          </a:p>
        </p:txBody>
      </p:sp>
      <p:sp>
        <p:nvSpPr>
          <p:cNvPr id="21" name="TextBox 20"/>
          <p:cNvSpPr txBox="1"/>
          <p:nvPr/>
        </p:nvSpPr>
        <p:spPr>
          <a:xfrm>
            <a:off x="8138160" y="2624328"/>
            <a:ext cx="3840480" cy="411480"/>
          </a:xfrm>
          <a:prstGeom prst="rect">
            <a:avLst/>
          </a:prstGeom>
          <a:noFill/>
        </p:spPr>
        <p:txBody>
          <a:bodyPr wrap="square">
            <a:spAutoFit/>
          </a:bodyPr>
          <a:lstStyle/>
          <a:p>
            <a:pPr algn="l">
              <a:defRPr sz="1100" b="0">
                <a:solidFill>
                  <a:srgbClr val="E0E0E4"/>
                </a:solidFill>
                <a:latin typeface="Calibri"/>
              </a:defRPr>
            </a:pPr>
            <a:r>
              <a:t>Runs code in a remote sandbox with pre-installed packages; limited customization</a:t>
            </a:r>
          </a:p>
        </p:txBody>
      </p:sp>
      <p:sp>
        <p:nvSpPr>
          <p:cNvPr id="22" name="Rounded Rectangle 21"/>
          <p:cNvSpPr/>
          <p:nvPr/>
        </p:nvSpPr>
        <p:spPr>
          <a:xfrm>
            <a:off x="731520" y="3136392"/>
            <a:ext cx="292608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49040" y="3136392"/>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955280" y="3136392"/>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209544"/>
            <a:ext cx="2651760" cy="365760"/>
          </a:xfrm>
          <a:prstGeom prst="rect">
            <a:avLst/>
          </a:prstGeom>
          <a:noFill/>
        </p:spPr>
        <p:txBody>
          <a:bodyPr wrap="square">
            <a:spAutoFit/>
          </a:bodyPr>
          <a:lstStyle/>
          <a:p>
            <a:pPr algn="l">
              <a:defRPr sz="1200" b="1">
                <a:solidFill>
                  <a:srgbClr val="D47B2A"/>
                </a:solidFill>
                <a:latin typeface="Calibri"/>
              </a:defRPr>
            </a:pPr>
            <a:r>
              <a:t>Data Access</a:t>
            </a:r>
          </a:p>
        </p:txBody>
      </p:sp>
      <p:sp>
        <p:nvSpPr>
          <p:cNvPr id="26" name="TextBox 25"/>
          <p:cNvSpPr txBox="1"/>
          <p:nvPr/>
        </p:nvSpPr>
        <p:spPr>
          <a:xfrm>
            <a:off x="3931920" y="3182112"/>
            <a:ext cx="3840480" cy="411480"/>
          </a:xfrm>
          <a:prstGeom prst="rect">
            <a:avLst/>
          </a:prstGeom>
          <a:noFill/>
        </p:spPr>
        <p:txBody>
          <a:bodyPr wrap="square">
            <a:spAutoFit/>
          </a:bodyPr>
          <a:lstStyle/>
          <a:p>
            <a:pPr algn="l">
              <a:defRPr sz="1100" b="0">
                <a:solidFill>
                  <a:srgbClr val="E0E0E4"/>
                </a:solidFill>
                <a:latin typeface="Calibri"/>
              </a:defRPr>
            </a:pPr>
            <a:r>
              <a:t>Reads files directly from disk — no upload limits, handles large datasets natively</a:t>
            </a:r>
          </a:p>
        </p:txBody>
      </p:sp>
      <p:sp>
        <p:nvSpPr>
          <p:cNvPr id="27" name="TextBox 26"/>
          <p:cNvSpPr txBox="1"/>
          <p:nvPr/>
        </p:nvSpPr>
        <p:spPr>
          <a:xfrm>
            <a:off x="8138160" y="3182112"/>
            <a:ext cx="3840480" cy="411480"/>
          </a:xfrm>
          <a:prstGeom prst="rect">
            <a:avLst/>
          </a:prstGeom>
          <a:noFill/>
        </p:spPr>
        <p:txBody>
          <a:bodyPr wrap="square">
            <a:spAutoFit/>
          </a:bodyPr>
          <a:lstStyle/>
          <a:p>
            <a:pPr algn="l">
              <a:defRPr sz="1100" b="0">
                <a:solidFill>
                  <a:srgbClr val="E0E0E4"/>
                </a:solidFill>
                <a:latin typeface="Calibri"/>
              </a:defRPr>
            </a:pPr>
            <a:r>
              <a:t>Requires file upload (capped at ~500 MB); data leaves your machine</a:t>
            </a:r>
          </a:p>
        </p:txBody>
      </p:sp>
      <p:sp>
        <p:nvSpPr>
          <p:cNvPr id="28" name="Rounded Rectangle 27"/>
          <p:cNvSpPr/>
          <p:nvPr/>
        </p:nvSpPr>
        <p:spPr>
          <a:xfrm>
            <a:off x="731520" y="3694176"/>
            <a:ext cx="292608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749040" y="3694176"/>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955280" y="3694176"/>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767328"/>
            <a:ext cx="2651760" cy="365760"/>
          </a:xfrm>
          <a:prstGeom prst="rect">
            <a:avLst/>
          </a:prstGeom>
          <a:noFill/>
        </p:spPr>
        <p:txBody>
          <a:bodyPr wrap="square">
            <a:spAutoFit/>
          </a:bodyPr>
          <a:lstStyle/>
          <a:p>
            <a:pPr algn="l">
              <a:defRPr sz="1200" b="1">
                <a:solidFill>
                  <a:srgbClr val="D47B2A"/>
                </a:solidFill>
                <a:latin typeface="Calibri"/>
              </a:defRPr>
            </a:pPr>
            <a:r>
              <a:t>Privacy</a:t>
            </a:r>
          </a:p>
        </p:txBody>
      </p:sp>
      <p:sp>
        <p:nvSpPr>
          <p:cNvPr id="32" name="TextBox 31"/>
          <p:cNvSpPr txBox="1"/>
          <p:nvPr/>
        </p:nvSpPr>
        <p:spPr>
          <a:xfrm>
            <a:off x="3931920" y="3739896"/>
            <a:ext cx="3840480" cy="411480"/>
          </a:xfrm>
          <a:prstGeom prst="rect">
            <a:avLst/>
          </a:prstGeom>
          <a:noFill/>
        </p:spPr>
        <p:txBody>
          <a:bodyPr wrap="square">
            <a:spAutoFit/>
          </a:bodyPr>
          <a:lstStyle/>
          <a:p>
            <a:pPr algn="l">
              <a:defRPr sz="1100" b="0">
                <a:solidFill>
                  <a:srgbClr val="E0E0E4"/>
                </a:solidFill>
                <a:latin typeface="Calibri"/>
              </a:defRPr>
            </a:pPr>
            <a:r>
              <a:t>Data stays on your machine; code runs locally without sending file contents to the cloud</a:t>
            </a:r>
          </a:p>
        </p:txBody>
      </p:sp>
      <p:sp>
        <p:nvSpPr>
          <p:cNvPr id="33" name="TextBox 32"/>
          <p:cNvSpPr txBox="1"/>
          <p:nvPr/>
        </p:nvSpPr>
        <p:spPr>
          <a:xfrm>
            <a:off x="8138160" y="3739896"/>
            <a:ext cx="3840480" cy="411480"/>
          </a:xfrm>
          <a:prstGeom prst="rect">
            <a:avLst/>
          </a:prstGeom>
          <a:noFill/>
        </p:spPr>
        <p:txBody>
          <a:bodyPr wrap="square">
            <a:spAutoFit/>
          </a:bodyPr>
          <a:lstStyle/>
          <a:p>
            <a:pPr algn="l">
              <a:defRPr sz="1100" b="0">
                <a:solidFill>
                  <a:srgbClr val="E0E0E4"/>
                </a:solidFill>
                <a:latin typeface="Calibri"/>
              </a:defRPr>
            </a:pPr>
            <a:r>
              <a:t>Files are uploaded to OpenAI servers for processing</a:t>
            </a:r>
          </a:p>
        </p:txBody>
      </p:sp>
      <p:sp>
        <p:nvSpPr>
          <p:cNvPr id="34" name="Rounded Rectangle 33"/>
          <p:cNvSpPr/>
          <p:nvPr/>
        </p:nvSpPr>
        <p:spPr>
          <a:xfrm>
            <a:off x="731520" y="4251960"/>
            <a:ext cx="292608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749040" y="4251960"/>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7955280" y="4251960"/>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4325112"/>
            <a:ext cx="2651760" cy="365760"/>
          </a:xfrm>
          <a:prstGeom prst="rect">
            <a:avLst/>
          </a:prstGeom>
          <a:noFill/>
        </p:spPr>
        <p:txBody>
          <a:bodyPr wrap="square">
            <a:spAutoFit/>
          </a:bodyPr>
          <a:lstStyle/>
          <a:p>
            <a:pPr algn="l">
              <a:defRPr sz="1200" b="1">
                <a:solidFill>
                  <a:srgbClr val="D47B2A"/>
                </a:solidFill>
                <a:latin typeface="Calibri"/>
              </a:defRPr>
            </a:pPr>
            <a:r>
              <a:t>Extensibility</a:t>
            </a:r>
          </a:p>
        </p:txBody>
      </p:sp>
      <p:sp>
        <p:nvSpPr>
          <p:cNvPr id="38" name="TextBox 37"/>
          <p:cNvSpPr txBox="1"/>
          <p:nvPr/>
        </p:nvSpPr>
        <p:spPr>
          <a:xfrm>
            <a:off x="3931920" y="4297680"/>
            <a:ext cx="3840480" cy="411480"/>
          </a:xfrm>
          <a:prstGeom prst="rect">
            <a:avLst/>
          </a:prstGeom>
          <a:noFill/>
        </p:spPr>
        <p:txBody>
          <a:bodyPr wrap="square">
            <a:spAutoFit/>
          </a:bodyPr>
          <a:lstStyle/>
          <a:p>
            <a:pPr algn="l">
              <a:defRPr sz="1100" b="0">
                <a:solidFill>
                  <a:srgbClr val="E0E0E4"/>
                </a:solidFill>
                <a:latin typeface="Calibri"/>
              </a:defRPr>
            </a:pPr>
            <a:r>
              <a:t>MCP servers, custom hooks, headless/batch mode, CI/CD integration, shell scripting</a:t>
            </a:r>
          </a:p>
        </p:txBody>
      </p:sp>
      <p:sp>
        <p:nvSpPr>
          <p:cNvPr id="39" name="TextBox 38"/>
          <p:cNvSpPr txBox="1"/>
          <p:nvPr/>
        </p:nvSpPr>
        <p:spPr>
          <a:xfrm>
            <a:off x="8138160" y="4297680"/>
            <a:ext cx="3840480" cy="411480"/>
          </a:xfrm>
          <a:prstGeom prst="rect">
            <a:avLst/>
          </a:prstGeom>
          <a:noFill/>
        </p:spPr>
        <p:txBody>
          <a:bodyPr wrap="square">
            <a:spAutoFit/>
          </a:bodyPr>
          <a:lstStyle/>
          <a:p>
            <a:pPr algn="l">
              <a:defRPr sz="1100" b="0">
                <a:solidFill>
                  <a:srgbClr val="E0E0E4"/>
                </a:solidFill>
                <a:latin typeface="Calibri"/>
              </a:defRPr>
            </a:pPr>
            <a:r>
              <a:t>GPTs and plugins for web-based workflows; limited programmatic integration</a:t>
            </a:r>
          </a:p>
        </p:txBody>
      </p:sp>
      <p:sp>
        <p:nvSpPr>
          <p:cNvPr id="40" name="Rounded Rectangle 39"/>
          <p:cNvSpPr/>
          <p:nvPr/>
        </p:nvSpPr>
        <p:spPr>
          <a:xfrm>
            <a:off x="731520" y="4809744"/>
            <a:ext cx="292608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749040" y="4809744"/>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955280" y="4809744"/>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4882896"/>
            <a:ext cx="2651760" cy="365760"/>
          </a:xfrm>
          <a:prstGeom prst="rect">
            <a:avLst/>
          </a:prstGeom>
          <a:noFill/>
        </p:spPr>
        <p:txBody>
          <a:bodyPr wrap="square">
            <a:spAutoFit/>
          </a:bodyPr>
          <a:lstStyle/>
          <a:p>
            <a:pPr algn="l">
              <a:defRPr sz="1200" b="1">
                <a:solidFill>
                  <a:srgbClr val="D47B2A"/>
                </a:solidFill>
                <a:latin typeface="Calibri"/>
              </a:defRPr>
            </a:pPr>
            <a:r>
              <a:t>Workflow</a:t>
            </a:r>
          </a:p>
        </p:txBody>
      </p:sp>
      <p:sp>
        <p:nvSpPr>
          <p:cNvPr id="44" name="TextBox 43"/>
          <p:cNvSpPr txBox="1"/>
          <p:nvPr/>
        </p:nvSpPr>
        <p:spPr>
          <a:xfrm>
            <a:off x="3931920" y="4855464"/>
            <a:ext cx="3840480" cy="411480"/>
          </a:xfrm>
          <a:prstGeom prst="rect">
            <a:avLst/>
          </a:prstGeom>
          <a:noFill/>
        </p:spPr>
        <p:txBody>
          <a:bodyPr wrap="square">
            <a:spAutoFit/>
          </a:bodyPr>
          <a:lstStyle/>
          <a:p>
            <a:pPr algn="l">
              <a:defRPr sz="1100" b="0">
                <a:solidFill>
                  <a:srgbClr val="E0E0E4"/>
                </a:solidFill>
                <a:latin typeface="Calibri"/>
              </a:defRPr>
            </a:pPr>
            <a:r>
              <a:t>Terminal-native: integrates with git, bash, cron, scripts, and existing dev workflows</a:t>
            </a:r>
          </a:p>
        </p:txBody>
      </p:sp>
      <p:sp>
        <p:nvSpPr>
          <p:cNvPr id="45" name="TextBox 44"/>
          <p:cNvSpPr txBox="1"/>
          <p:nvPr/>
        </p:nvSpPr>
        <p:spPr>
          <a:xfrm>
            <a:off x="8138160" y="4855464"/>
            <a:ext cx="3840480" cy="411480"/>
          </a:xfrm>
          <a:prstGeom prst="rect">
            <a:avLst/>
          </a:prstGeom>
          <a:noFill/>
        </p:spPr>
        <p:txBody>
          <a:bodyPr wrap="square">
            <a:spAutoFit/>
          </a:bodyPr>
          <a:lstStyle/>
          <a:p>
            <a:pPr algn="l">
              <a:defRPr sz="1100" b="0">
                <a:solidFill>
                  <a:srgbClr val="E0E0E4"/>
                </a:solidFill>
                <a:latin typeface="Calibri"/>
              </a:defRPr>
            </a:pPr>
            <a:r>
              <a:t>GUI-based: conversational web UI with visual chart rendering</a:t>
            </a:r>
          </a:p>
        </p:txBody>
      </p:sp>
      <p:sp>
        <p:nvSpPr>
          <p:cNvPr id="46" name="Rounded Rectangle 45"/>
          <p:cNvSpPr/>
          <p:nvPr/>
        </p:nvSpPr>
        <p:spPr>
          <a:xfrm>
            <a:off x="731520" y="5367528"/>
            <a:ext cx="292608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3749040" y="5367528"/>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7955280" y="5367528"/>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14400" y="5440680"/>
            <a:ext cx="2651760" cy="365760"/>
          </a:xfrm>
          <a:prstGeom prst="rect">
            <a:avLst/>
          </a:prstGeom>
          <a:noFill/>
        </p:spPr>
        <p:txBody>
          <a:bodyPr wrap="square">
            <a:spAutoFit/>
          </a:bodyPr>
          <a:lstStyle/>
          <a:p>
            <a:pPr algn="l">
              <a:defRPr sz="1200" b="1">
                <a:solidFill>
                  <a:srgbClr val="D47B2A"/>
                </a:solidFill>
                <a:latin typeface="Calibri"/>
              </a:defRPr>
            </a:pPr>
            <a:r>
              <a:t>Models</a:t>
            </a:r>
          </a:p>
        </p:txBody>
      </p:sp>
      <p:sp>
        <p:nvSpPr>
          <p:cNvPr id="50" name="TextBox 49"/>
          <p:cNvSpPr txBox="1"/>
          <p:nvPr/>
        </p:nvSpPr>
        <p:spPr>
          <a:xfrm>
            <a:off x="3931920" y="5413248"/>
            <a:ext cx="3840480" cy="411480"/>
          </a:xfrm>
          <a:prstGeom prst="rect">
            <a:avLst/>
          </a:prstGeom>
          <a:noFill/>
        </p:spPr>
        <p:txBody>
          <a:bodyPr wrap="square">
            <a:spAutoFit/>
          </a:bodyPr>
          <a:lstStyle/>
          <a:p>
            <a:pPr algn="l">
              <a:defRPr sz="1100" b="0">
                <a:solidFill>
                  <a:srgbClr val="E0E0E4"/>
                </a:solidFill>
                <a:latin typeface="Calibri"/>
              </a:defRPr>
            </a:pPr>
            <a:r>
              <a:t>Claude Opus 4.5, Sonnet 4, Haiku — optimized for code generation and analysis</a:t>
            </a:r>
          </a:p>
        </p:txBody>
      </p:sp>
      <p:sp>
        <p:nvSpPr>
          <p:cNvPr id="51" name="TextBox 50"/>
          <p:cNvSpPr txBox="1"/>
          <p:nvPr/>
        </p:nvSpPr>
        <p:spPr>
          <a:xfrm>
            <a:off x="8138160" y="5413248"/>
            <a:ext cx="3840480" cy="411480"/>
          </a:xfrm>
          <a:prstGeom prst="rect">
            <a:avLst/>
          </a:prstGeom>
          <a:noFill/>
        </p:spPr>
        <p:txBody>
          <a:bodyPr wrap="square">
            <a:spAutoFit/>
          </a:bodyPr>
          <a:lstStyle/>
          <a:p>
            <a:pPr algn="l">
              <a:defRPr sz="1100" b="0">
                <a:solidFill>
                  <a:srgbClr val="E0E0E4"/>
                </a:solidFill>
                <a:latin typeface="Calibri"/>
              </a:defRPr>
            </a:pPr>
            <a:r>
              <a:t>GPT-4o, o1, o3 — general-purpose with code interpreter capabilities</a:t>
            </a:r>
          </a:p>
        </p:txBody>
      </p:sp>
      <p:sp>
        <p:nvSpPr>
          <p:cNvPr id="52" name="Rounded Rectangle 51"/>
          <p:cNvSpPr/>
          <p:nvPr/>
        </p:nvSpPr>
        <p:spPr>
          <a:xfrm>
            <a:off x="731520" y="5925312"/>
            <a:ext cx="292608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749040" y="5925312"/>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7955280" y="5925312"/>
            <a:ext cx="4114800" cy="502920"/>
          </a:xfrm>
          <a:prstGeom prst="roundRect">
            <a:avLst>
              <a:gd name="adj" fmla="val 1000"/>
            </a:avLst>
          </a:prstGeom>
          <a:solidFill>
            <a:srgbClr val="161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4400" y="5998464"/>
            <a:ext cx="2651760" cy="365760"/>
          </a:xfrm>
          <a:prstGeom prst="rect">
            <a:avLst/>
          </a:prstGeom>
          <a:noFill/>
        </p:spPr>
        <p:txBody>
          <a:bodyPr wrap="square">
            <a:spAutoFit/>
          </a:bodyPr>
          <a:lstStyle/>
          <a:p>
            <a:pPr algn="l">
              <a:defRPr sz="1200" b="1">
                <a:solidFill>
                  <a:srgbClr val="D47B2A"/>
                </a:solidFill>
                <a:latin typeface="Calibri"/>
              </a:defRPr>
            </a:pPr>
            <a:r>
              <a:t>Visualization</a:t>
            </a:r>
          </a:p>
        </p:txBody>
      </p:sp>
      <p:sp>
        <p:nvSpPr>
          <p:cNvPr id="56" name="TextBox 55"/>
          <p:cNvSpPr txBox="1"/>
          <p:nvPr/>
        </p:nvSpPr>
        <p:spPr>
          <a:xfrm>
            <a:off x="3931920" y="5971032"/>
            <a:ext cx="3840480" cy="411480"/>
          </a:xfrm>
          <a:prstGeom prst="rect">
            <a:avLst/>
          </a:prstGeom>
          <a:noFill/>
        </p:spPr>
        <p:txBody>
          <a:bodyPr wrap="square">
            <a:spAutoFit/>
          </a:bodyPr>
          <a:lstStyle/>
          <a:p>
            <a:pPr algn="l">
              <a:defRPr sz="1100" b="0">
                <a:solidFill>
                  <a:srgbClr val="E0E0E4"/>
                </a:solidFill>
                <a:latin typeface="Calibri"/>
              </a:defRPr>
            </a:pPr>
            <a:r>
              <a:t>Generates chart files (PNG, SVG, HTML) using your installed libraries</a:t>
            </a:r>
          </a:p>
        </p:txBody>
      </p:sp>
      <p:sp>
        <p:nvSpPr>
          <p:cNvPr id="57" name="TextBox 56"/>
          <p:cNvSpPr txBox="1"/>
          <p:nvPr/>
        </p:nvSpPr>
        <p:spPr>
          <a:xfrm>
            <a:off x="8138160" y="5971032"/>
            <a:ext cx="3840480" cy="411480"/>
          </a:xfrm>
          <a:prstGeom prst="rect">
            <a:avLst/>
          </a:prstGeom>
          <a:noFill/>
        </p:spPr>
        <p:txBody>
          <a:bodyPr wrap="square">
            <a:spAutoFit/>
          </a:bodyPr>
          <a:lstStyle/>
          <a:p>
            <a:pPr algn="l">
              <a:defRPr sz="1100" b="0">
                <a:solidFill>
                  <a:srgbClr val="E0E0E4"/>
                </a:solidFill>
                <a:latin typeface="Calibri"/>
              </a:defRPr>
            </a:pPr>
            <a:r>
              <a:t>Renders interactive charts inline in the browser</a:t>
            </a:r>
          </a:p>
        </p:txBody>
      </p:sp>
      <p:sp>
        <p:nvSpPr>
          <p:cNvPr id="58" name="Rounded Rectangle 57"/>
          <p:cNvSpPr/>
          <p:nvPr/>
        </p:nvSpPr>
        <p:spPr>
          <a:xfrm>
            <a:off x="731520" y="6483096"/>
            <a:ext cx="292608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3749040" y="6483096"/>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7955280" y="6483096"/>
            <a:ext cx="4114800" cy="502920"/>
          </a:xfrm>
          <a:prstGeom prst="roundRect">
            <a:avLst>
              <a:gd name="adj" fmla="val 1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14400" y="6556248"/>
            <a:ext cx="2651760" cy="365760"/>
          </a:xfrm>
          <a:prstGeom prst="rect">
            <a:avLst/>
          </a:prstGeom>
          <a:noFill/>
        </p:spPr>
        <p:txBody>
          <a:bodyPr wrap="square">
            <a:spAutoFit/>
          </a:bodyPr>
          <a:lstStyle/>
          <a:p>
            <a:pPr algn="l">
              <a:defRPr sz="1200" b="1">
                <a:solidFill>
                  <a:srgbClr val="D47B2A"/>
                </a:solidFill>
                <a:latin typeface="Calibri"/>
              </a:defRPr>
            </a:pPr>
            <a:r>
              <a:t>Pricing</a:t>
            </a:r>
          </a:p>
        </p:txBody>
      </p:sp>
      <p:sp>
        <p:nvSpPr>
          <p:cNvPr id="62" name="TextBox 61"/>
          <p:cNvSpPr txBox="1"/>
          <p:nvPr/>
        </p:nvSpPr>
        <p:spPr>
          <a:xfrm>
            <a:off x="3931920" y="6528816"/>
            <a:ext cx="3840480" cy="411480"/>
          </a:xfrm>
          <a:prstGeom prst="rect">
            <a:avLst/>
          </a:prstGeom>
          <a:noFill/>
        </p:spPr>
        <p:txBody>
          <a:bodyPr wrap="square">
            <a:spAutoFit/>
          </a:bodyPr>
          <a:lstStyle/>
          <a:p>
            <a:pPr algn="l">
              <a:defRPr sz="1100" b="0">
                <a:solidFill>
                  <a:srgbClr val="E0E0E4"/>
                </a:solidFill>
                <a:latin typeface="Calibri"/>
              </a:defRPr>
            </a:pPr>
            <a:r>
              <a:t>API usage-based pricing; included with Claude Pro / Team / Enterprise plans</a:t>
            </a:r>
          </a:p>
        </p:txBody>
      </p:sp>
      <p:sp>
        <p:nvSpPr>
          <p:cNvPr id="63" name="TextBox 62"/>
          <p:cNvSpPr txBox="1"/>
          <p:nvPr/>
        </p:nvSpPr>
        <p:spPr>
          <a:xfrm>
            <a:off x="8138160" y="6528816"/>
            <a:ext cx="3840480" cy="411480"/>
          </a:xfrm>
          <a:prstGeom prst="rect">
            <a:avLst/>
          </a:prstGeom>
          <a:noFill/>
        </p:spPr>
        <p:txBody>
          <a:bodyPr wrap="square">
            <a:spAutoFit/>
          </a:bodyPr>
          <a:lstStyle/>
          <a:p>
            <a:pPr algn="l">
              <a:defRPr sz="1100" b="0">
                <a:solidFill>
                  <a:srgbClr val="E0E0E4"/>
                </a:solidFill>
                <a:latin typeface="Calibri"/>
              </a:defRPr>
            </a:pPr>
            <a:r>
              <a:t>ChatGPT Plus ($20/mo), Team ($25/mo), or API usage-based pricing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Glossary</a:t>
            </a:r>
          </a:p>
        </p:txBody>
      </p:sp>
      <p:sp>
        <p:nvSpPr>
          <p:cNvPr id="4" name="Rectangle 3"/>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50000"/>
            <a:ext cx="5200000" cy="280000"/>
          </a:xfrm>
          <a:prstGeom prst="rect">
            <a:avLst/>
          </a:prstGeom>
          <a:noFill/>
        </p:spPr>
        <p:txBody>
          <a:bodyPr wrap="square">
            <a:spAutoFit/>
          </a:bodyPr>
          <a:lstStyle/>
          <a:p>
            <a:r>
              <a:rPr lang="en-US" sz="1400" b="1">
                <a:solidFill>
                  <a:srgbClr val="D47B2A"/>
                </a:solidFill>
                <a:latin typeface="Calibri"/>
              </a:rPr>
              <a:t>Agents</a:t>
            </a:r>
          </a:p>
        </p:txBody>
      </p:sp>
      <p:sp>
        <p:nvSpPr>
          <p:cNvPr id="6" name="TextBox 5"/>
          <p:cNvSpPr txBox="1"/>
          <p:nvPr/>
        </p:nvSpPr>
        <p:spPr>
          <a:xfrm>
            <a:off x="731520" y="163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Autonomous AI workers that can perform multi-step tasks independently. In Claude Code, agents can search code, run commands, and complete complex workflows without step-by-step instructions.</a:t>
            </a:r>
          </a:p>
        </p:txBody>
      </p:sp>
      <p:sp>
        <p:nvSpPr>
          <p:cNvPr id="7" name="TextBox 6"/>
          <p:cNvSpPr txBox="1"/>
          <p:nvPr/>
        </p:nvSpPr>
        <p:spPr>
          <a:xfrm>
            <a:off x="731520" y="2210000"/>
            <a:ext cx="5200000" cy="280000"/>
          </a:xfrm>
          <a:prstGeom prst="rect">
            <a:avLst/>
          </a:prstGeom>
          <a:noFill/>
        </p:spPr>
        <p:txBody>
          <a:bodyPr wrap="square">
            <a:spAutoFit/>
          </a:bodyPr>
          <a:lstStyle/>
          <a:p>
            <a:r>
              <a:rPr lang="en-US" sz="1400" b="1">
                <a:solidFill>
                  <a:srgbClr val="D47B2A"/>
                </a:solidFill>
                <a:latin typeface="Calibri"/>
              </a:rPr>
              <a:t>CLAUDE.md</a:t>
            </a:r>
          </a:p>
        </p:txBody>
      </p:sp>
      <p:sp>
        <p:nvSpPr>
          <p:cNvPr id="8" name="TextBox 7"/>
          <p:cNvSpPr txBox="1"/>
          <p:nvPr/>
        </p:nvSpPr>
        <p:spPr>
          <a:xfrm>
            <a:off x="731520" y="249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A configuration file you place in your project directory to give Claude persistent context about your data schema, conventions, and preferences. Acts as a "cheat sheet" Claude reads every session.</a:t>
            </a:r>
          </a:p>
        </p:txBody>
      </p:sp>
      <p:sp>
        <p:nvSpPr>
          <p:cNvPr id="9" name="TextBox 8"/>
          <p:cNvSpPr txBox="1"/>
          <p:nvPr/>
        </p:nvSpPr>
        <p:spPr>
          <a:xfrm>
            <a:off x="731520" y="3070000"/>
            <a:ext cx="5200000" cy="280000"/>
          </a:xfrm>
          <a:prstGeom prst="rect">
            <a:avLst/>
          </a:prstGeom>
          <a:noFill/>
        </p:spPr>
        <p:txBody>
          <a:bodyPr wrap="square">
            <a:spAutoFit/>
          </a:bodyPr>
          <a:lstStyle/>
          <a:p>
            <a:r>
              <a:rPr lang="en-US" sz="1400" b="1">
                <a:solidFill>
                  <a:srgbClr val="D47B2A"/>
                </a:solidFill>
                <a:latin typeface="Calibri"/>
              </a:rPr>
              <a:t>Context Window</a:t>
            </a:r>
          </a:p>
        </p:txBody>
      </p:sp>
      <p:sp>
        <p:nvSpPr>
          <p:cNvPr id="10" name="TextBox 9"/>
          <p:cNvSpPr txBox="1"/>
          <p:nvPr/>
        </p:nvSpPr>
        <p:spPr>
          <a:xfrm>
            <a:off x="731520" y="335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The amount of text (code, conversation, files) Claude can "see" at once. Larger context windows allow Claude to work with bigger datasets and longer conversations without forgetting earlier details.</a:t>
            </a:r>
          </a:p>
        </p:txBody>
      </p:sp>
      <p:sp>
        <p:nvSpPr>
          <p:cNvPr id="11" name="TextBox 10"/>
          <p:cNvSpPr txBox="1"/>
          <p:nvPr/>
        </p:nvSpPr>
        <p:spPr>
          <a:xfrm>
            <a:off x="731520" y="3930000"/>
            <a:ext cx="5200000" cy="280000"/>
          </a:xfrm>
          <a:prstGeom prst="rect">
            <a:avLst/>
          </a:prstGeom>
          <a:noFill/>
        </p:spPr>
        <p:txBody>
          <a:bodyPr wrap="square">
            <a:spAutoFit/>
          </a:bodyPr>
          <a:lstStyle/>
          <a:p>
            <a:r>
              <a:rPr lang="en-US" sz="1400" b="1">
                <a:solidFill>
                  <a:srgbClr val="D47B2A"/>
                </a:solidFill>
                <a:latin typeface="Calibri"/>
              </a:rPr>
              <a:t>Hooks</a:t>
            </a:r>
          </a:p>
        </p:txBody>
      </p:sp>
      <p:sp>
        <p:nvSpPr>
          <p:cNvPr id="12" name="TextBox 11"/>
          <p:cNvSpPr txBox="1"/>
          <p:nvPr/>
        </p:nvSpPr>
        <p:spPr>
          <a:xfrm>
            <a:off x="731520" y="421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Shell commands that run automatically in response to events — for example, auto-running a linter after Claude generates code, or validating data after a transformation step.</a:t>
            </a:r>
          </a:p>
        </p:txBody>
      </p:sp>
      <p:sp>
        <p:nvSpPr>
          <p:cNvPr id="13" name="TextBox 12"/>
          <p:cNvSpPr txBox="1"/>
          <p:nvPr/>
        </p:nvSpPr>
        <p:spPr>
          <a:xfrm>
            <a:off x="731520" y="4790000"/>
            <a:ext cx="5200000" cy="280000"/>
          </a:xfrm>
          <a:prstGeom prst="rect">
            <a:avLst/>
          </a:prstGeom>
          <a:noFill/>
        </p:spPr>
        <p:txBody>
          <a:bodyPr wrap="square">
            <a:spAutoFit/>
          </a:bodyPr>
          <a:lstStyle/>
          <a:p>
            <a:r>
              <a:rPr lang="en-US" sz="1400" b="1">
                <a:solidFill>
                  <a:srgbClr val="D47B2A"/>
                </a:solidFill>
                <a:latin typeface="Calibri"/>
              </a:rPr>
              <a:t>Markdown</a:t>
            </a:r>
          </a:p>
        </p:txBody>
      </p:sp>
      <p:sp>
        <p:nvSpPr>
          <p:cNvPr id="14" name="TextBox 13"/>
          <p:cNvSpPr txBox="1"/>
          <p:nvPr/>
        </p:nvSpPr>
        <p:spPr>
          <a:xfrm>
            <a:off x="731520" y="507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A lightweight text formatting syntax (headings, bold, lists, code blocks) used in CLAUDE.md files, documentation, and Claude's own output. Easy to read as plain text and renders nicely in tools like GitHub.</a:t>
            </a:r>
          </a:p>
        </p:txBody>
      </p:sp>
      <p:sp>
        <p:nvSpPr>
          <p:cNvPr id="15" name="TextBox 14"/>
          <p:cNvSpPr txBox="1"/>
          <p:nvPr/>
        </p:nvSpPr>
        <p:spPr>
          <a:xfrm>
            <a:off x="6200000" y="1350000"/>
            <a:ext cx="5200000" cy="280000"/>
          </a:xfrm>
          <a:prstGeom prst="rect">
            <a:avLst/>
          </a:prstGeom>
          <a:noFill/>
        </p:spPr>
        <p:txBody>
          <a:bodyPr wrap="square">
            <a:spAutoFit/>
          </a:bodyPr>
          <a:lstStyle/>
          <a:p>
            <a:r>
              <a:rPr lang="en-US" sz="1400" b="1">
                <a:solidFill>
                  <a:srgbClr val="D47B2A"/>
                </a:solidFill>
                <a:latin typeface="Calibri"/>
              </a:rPr>
              <a:t>MCP Servers</a:t>
            </a:r>
          </a:p>
        </p:txBody>
      </p:sp>
      <p:sp>
        <p:nvSpPr>
          <p:cNvPr id="16" name="TextBox 15"/>
          <p:cNvSpPr txBox="1"/>
          <p:nvPr/>
        </p:nvSpPr>
        <p:spPr>
          <a:xfrm>
            <a:off x="6200000" y="163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Model Context Protocol servers that extend Claude's capabilities by connecting it to external systems — databases, file systems, APIs, Google Sheets, and more. Added via the claude mcp add command.</a:t>
            </a:r>
          </a:p>
        </p:txBody>
      </p:sp>
      <p:sp>
        <p:nvSpPr>
          <p:cNvPr id="17" name="TextBox 16"/>
          <p:cNvSpPr txBox="1"/>
          <p:nvPr/>
        </p:nvSpPr>
        <p:spPr>
          <a:xfrm>
            <a:off x="6200000" y="2210000"/>
            <a:ext cx="5200000" cy="280000"/>
          </a:xfrm>
          <a:prstGeom prst="rect">
            <a:avLst/>
          </a:prstGeom>
          <a:noFill/>
        </p:spPr>
        <p:txBody>
          <a:bodyPr wrap="square">
            <a:spAutoFit/>
          </a:bodyPr>
          <a:lstStyle/>
          <a:p>
            <a:r>
              <a:rPr lang="en-US" sz="1400" b="1">
                <a:solidFill>
                  <a:srgbClr val="D47B2A"/>
                </a:solidFill>
                <a:latin typeface="Calibri"/>
              </a:rPr>
              <a:t>Prompts</a:t>
            </a:r>
          </a:p>
        </p:txBody>
      </p:sp>
      <p:sp>
        <p:nvSpPr>
          <p:cNvPr id="18" name="TextBox 17"/>
          <p:cNvSpPr txBox="1"/>
          <p:nvPr/>
        </p:nvSpPr>
        <p:spPr>
          <a:xfrm>
            <a:off x="6200000" y="249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The natural language instructions you give to Claude. More specific prompts ("calculate 90-day rolling churn by segment") produce better results than vague ones ("analyze the data").</a:t>
            </a:r>
          </a:p>
        </p:txBody>
      </p:sp>
      <p:sp>
        <p:nvSpPr>
          <p:cNvPr id="19" name="TextBox 18"/>
          <p:cNvSpPr txBox="1"/>
          <p:nvPr/>
        </p:nvSpPr>
        <p:spPr>
          <a:xfrm>
            <a:off x="6200000" y="3070000"/>
            <a:ext cx="5200000" cy="280000"/>
          </a:xfrm>
          <a:prstGeom prst="rect">
            <a:avLst/>
          </a:prstGeom>
          <a:noFill/>
        </p:spPr>
        <p:txBody>
          <a:bodyPr wrap="square">
            <a:spAutoFit/>
          </a:bodyPr>
          <a:lstStyle/>
          <a:p>
            <a:r>
              <a:rPr lang="en-US" sz="1400" b="1">
                <a:solidFill>
                  <a:srgbClr val="D47B2A"/>
                </a:solidFill>
                <a:latin typeface="Calibri"/>
              </a:rPr>
              <a:t>Skills</a:t>
            </a:r>
          </a:p>
        </p:txBody>
      </p:sp>
      <p:sp>
        <p:nvSpPr>
          <p:cNvPr id="20" name="TextBox 19"/>
          <p:cNvSpPr txBox="1"/>
          <p:nvPr/>
        </p:nvSpPr>
        <p:spPr>
          <a:xfrm>
            <a:off x="6200000" y="335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Reusable slash commands and workflows you can create to automate repetitive analysis tasks. For example, a /clean-csv skill that applies your standard data cleaning pipeline.</a:t>
            </a:r>
          </a:p>
        </p:txBody>
      </p:sp>
      <p:sp>
        <p:nvSpPr>
          <p:cNvPr id="21" name="TextBox 20"/>
          <p:cNvSpPr txBox="1"/>
          <p:nvPr/>
        </p:nvSpPr>
        <p:spPr>
          <a:xfrm>
            <a:off x="6200000" y="3930000"/>
            <a:ext cx="5200000" cy="280000"/>
          </a:xfrm>
          <a:prstGeom prst="rect">
            <a:avLst/>
          </a:prstGeom>
          <a:noFill/>
        </p:spPr>
        <p:txBody>
          <a:bodyPr wrap="square">
            <a:spAutoFit/>
          </a:bodyPr>
          <a:lstStyle/>
          <a:p>
            <a:r>
              <a:rPr lang="en-US" sz="1400" b="1">
                <a:solidFill>
                  <a:srgbClr val="D47B2A"/>
                </a:solidFill>
                <a:latin typeface="Calibri"/>
              </a:rPr>
              <a:t>Sub-agents</a:t>
            </a:r>
          </a:p>
        </p:txBody>
      </p:sp>
      <p:sp>
        <p:nvSpPr>
          <p:cNvPr id="22" name="TextBox 21"/>
          <p:cNvSpPr txBox="1"/>
          <p:nvPr/>
        </p:nvSpPr>
        <p:spPr>
          <a:xfrm>
            <a:off x="6200000" y="421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Parallel worker agents that Claude can delegate parts of an analysis to, speeding up complex multi-step workflows by running tasks concurrently.</a:t>
            </a:r>
          </a:p>
        </p:txBody>
      </p:sp>
      <p:sp>
        <p:nvSpPr>
          <p:cNvPr id="23" name="TextBox 22"/>
          <p:cNvSpPr txBox="1"/>
          <p:nvPr/>
        </p:nvSpPr>
        <p:spPr>
          <a:xfrm>
            <a:off x="6200000" y="4790000"/>
            <a:ext cx="5200000" cy="280000"/>
          </a:xfrm>
          <a:prstGeom prst="rect">
            <a:avLst/>
          </a:prstGeom>
          <a:noFill/>
        </p:spPr>
        <p:txBody>
          <a:bodyPr wrap="square">
            <a:spAutoFit/>
          </a:bodyPr>
          <a:lstStyle/>
          <a:p>
            <a:r>
              <a:rPr lang="en-US" sz="1400" b="1">
                <a:solidFill>
                  <a:srgbClr val="D47B2A"/>
                </a:solidFill>
                <a:latin typeface="Calibri"/>
              </a:rPr>
              <a:t>Headless Mode</a:t>
            </a:r>
          </a:p>
        </p:txBody>
      </p:sp>
      <p:sp>
        <p:nvSpPr>
          <p:cNvPr id="24" name="TextBox 23"/>
          <p:cNvSpPr txBox="1"/>
          <p:nvPr/>
        </p:nvSpPr>
        <p:spPr>
          <a:xfrm>
            <a:off x="6200000" y="5070000"/>
            <a:ext cx="5200000" cy="520000"/>
          </a:xfrm>
          <a:prstGeom prst="rect">
            <a:avLst/>
          </a:prstGeom>
          <a:noFill/>
        </p:spPr>
        <p:txBody>
          <a:bodyPr wrap="square">
            <a:spAutoFit/>
          </a:bodyPr>
          <a:lstStyle/>
          <a:p>
            <a:pPr>
              <a:lnSpc>
                <a:spcPct val="110000"/>
              </a:lnSpc>
            </a:pPr>
            <a:r>
              <a:rPr lang="en-US" sz="1100">
                <a:solidFill>
                  <a:srgbClr val="CCCCCC"/>
                </a:solidFill>
                <a:latin typeface="Calibri"/>
              </a:rPr>
              <a:t>Running Claude Code from a script or automation pipeline without interactive conversation. Useful for scheduled batch analyses, CI/CD integration, and automated reporting.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728655" cy="830997"/>
          </a:xfrm>
          <a:prstGeom prst="rect">
            <a:avLst/>
          </a:prstGeom>
          <a:noFill/>
        </p:spPr>
        <p:txBody>
          <a:bodyPr wrap="square">
            <a:spAutoFit/>
          </a:bodyPr>
          <a:lstStyle/>
          <a:p>
            <a:pPr algn="l">
              <a:defRPr sz="3600" b="1">
                <a:solidFill>
                  <a:srgbClr val="FFFFFF"/>
                </a:solidFill>
                <a:latin typeface="Calibri"/>
              </a:defRPr>
            </a:pPr>
            <a:r>
              <a:t>Start Analyzing</a:t>
            </a:r>
          </a:p>
        </p:txBody>
      </p:sp>
      <p:sp>
        <p:nvSpPr>
          <p:cNvPr id="4" name="TextBox 3"/>
          <p:cNvSpPr txBox="1"/>
          <p:nvPr/>
        </p:nvSpPr>
        <p:spPr>
          <a:xfrm>
            <a:off x="731520" y="2926080"/>
            <a:ext cx="10728655" cy="461665"/>
          </a:xfrm>
          <a:prstGeom prst="rect">
            <a:avLst/>
          </a:prstGeom>
          <a:noFill/>
        </p:spPr>
        <p:txBody>
          <a:bodyPr wrap="square">
            <a:spAutoFit/>
          </a:bodyPr>
          <a:lstStyle/>
          <a:p>
            <a:pPr algn="l">
              <a:defRPr sz="1800">
                <a:solidFill>
                  <a:srgbClr val="CCCCCC"/>
                </a:solidFill>
                <a:latin typeface="Calibri"/>
              </a:defRPr>
            </a:pPr>
            <a:r>
              <a:t>Install Claude Code and turn your terminal into a data analysis powerhouse.</a:t>
            </a:r>
          </a:p>
        </p:txBody>
      </p:sp>
      <p:sp>
        <p:nvSpPr>
          <p:cNvPr id="5" name="Rectangle 4"/>
          <p:cNvSpPr/>
          <p:nvPr/>
        </p:nvSpPr>
        <p:spPr>
          <a:xfrm>
            <a:off x="5029200" y="3931920"/>
            <a:ext cx="210312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4389120"/>
            <a:ext cx="10728655" cy="500000"/>
          </a:xfrm>
          <a:prstGeom prst="round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a:solidFill>
                  <a:srgbClr val="4EC98B"/>
                </a:solidFill>
                <a:latin typeface="Consolas"/>
              </a:rPr>
              <a:t>npm install -g @anthropic-ai/claude-code &amp;&amp; claude</a:t>
            </a:r>
          </a:p>
        </p:txBody>
      </p:sp>
      <p:sp>
        <p:nvSpPr>
          <p:cNvPr id="7" name="TextBox 6"/>
          <p:cNvSpPr txBox="1"/>
          <p:nvPr/>
        </p:nvSpPr>
        <p:spPr>
          <a:xfrm>
            <a:off x="731520" y="5100000"/>
            <a:ext cx="10728655" cy="369332"/>
          </a:xfrm>
          <a:prstGeom prst="rect">
            <a:avLst/>
          </a:prstGeom>
          <a:noFill/>
        </p:spPr>
        <p:txBody>
          <a:bodyPr wrap="square">
            <a:spAutoFit/>
          </a:bodyPr>
          <a:lstStyle/>
          <a:p>
            <a:pPr algn="ctr"/>
            <a:r>
              <a:rPr lang="en-US" sz="1200">
                <a:solidFill>
                  <a:srgbClr val="888888"/>
                </a:solidFill>
                <a:latin typeface="Calibri"/>
                <a:hlinkClick r:id="rId2"/>
              </a:rPr>
              <a:t>docs.anthropic.com/claude-code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a:spAutoFit/>
          </a:bodyPr>
          <a:lstStyle/>
          <a:p>
            <a:pPr algn="l">
              <a:defRPr sz="3600" b="1">
                <a:solidFill>
                  <a:srgbClr val="FFFFFF"/>
                </a:solidFill>
                <a:latin typeface="Calibri"/>
              </a:defRPr>
            </a:pPr>
            <a:r>
              <a:t>Skills (Custom Slash Commands)</a:t>
            </a:r>
          </a:p>
        </p:txBody>
      </p:sp>
      <p:sp>
        <p:nvSpPr>
          <p:cNvPr id="4" name="Rectangle 3"/>
          <p:cNvSpPr/>
          <p:nvPr/>
        </p:nvSpPr>
        <p:spPr>
          <a:xfrm>
            <a:off x="731520" y="1097280"/>
            <a:ext cx="1828800" cy="36576"/>
          </a:xfrm>
          <a:prstGeom prst="rect">
            <a:avLst/>
          </a:prstGeom>
          <a:solidFill>
            <a:srgbClr val="D47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0000"/>
            <a:ext cx="5029200" cy="36576"/>
          </a:xfrm>
          <a:prstGeom prst="rect">
            <a:avLst/>
          </a:prstGeom>
          <a:solidFill>
            <a:srgbClr val="4EC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20000"/>
            <a:ext cx="5029200" cy="350000"/>
          </a:xfrm>
          <a:prstGeom prst="rect">
            <a:avLst/>
          </a:prstGeom>
          <a:noFill/>
        </p:spPr>
        <p:txBody>
          <a:bodyPr wrap="square">
            <a:spAutoFit/>
          </a:bodyPr>
          <a:lstStyle/>
          <a:p>
            <a:r>
              <a:rPr lang="en-US" sz="1600" b="1">
                <a:solidFill>
                  <a:srgbClr val="4EC98B"/>
                </a:solidFill>
                <a:latin typeface="Calibri"/>
              </a:rPr>
              <a:t>What Are Skills?</a:t>
            </a:r>
          </a:p>
        </p:txBody>
      </p:sp>
      <p:sp>
        <p:nvSpPr>
          <p:cNvPr id="7" name="TextBox 6"/>
          <p:cNvSpPr txBox="1"/>
          <p:nvPr/>
        </p:nvSpPr>
        <p:spPr>
          <a:xfrm>
            <a:off x="731520" y="1800000"/>
            <a:ext cx="5029200" cy="900000"/>
          </a:xfrm>
          <a:prstGeom prst="rect">
            <a:avLst/>
          </a:prstGeom>
          <a:noFill/>
        </p:spPr>
        <p:txBody>
          <a:bodyPr wrap="square">
            <a:spAutoFit/>
          </a:bodyPr>
          <a:lstStyle/>
          <a:p>
            <a:pPr>
              <a:spcAft>
                <a:spcPts val="400"/>
              </a:spcAft>
            </a:pPr>
            <a:r>
              <a:rPr lang="en-US" sz="1100">
                <a:solidFill>
                  <a:srgbClr val="BBBBBB"/>
                </a:solidFill>
                <a:latin typeface="Calibri"/>
              </a:rPr>
              <a:t>Skills are </a:t>
            </a:r>
            <a:r>
              <a:rPr lang="en-US" sz="1100" b="1">
                <a:solidFill>
                  <a:srgbClr val="BBBBBB"/>
                </a:solidFill>
                <a:latin typeface="Calibri"/>
              </a:rPr>
              <a:t>reusable prompt templates</a:t>
            </a:r>
            <a:r>
              <a:rPr lang="en-US" sz="1100">
                <a:solidFill>
                  <a:srgbClr val="BBBBBB"/>
                </a:solidFill>
                <a:latin typeface="Calibri"/>
              </a:rPr>
              <a:t> you save as Markdown files.  Once created, you run them as slash commands — like </a:t>
            </a:r>
            <a:r>
              <a:rPr lang="en-US" sz="1100">
                <a:solidFill>
                  <a:srgbClr val="4EC98B"/>
                </a:solidFill>
                <a:latin typeface="Consolas"/>
              </a:rPr>
              <a:t>/data-summary</a:t>
            </a:r>
            <a:r>
              <a:rPr lang="en-US" sz="1100">
                <a:solidFill>
                  <a:srgbClr val="BBBBBB"/>
                </a:solidFill>
                <a:latin typeface="Calibri"/>
              </a:rPr>
              <a:t> — instead of retyping the same instructions every time.</a:t>
            </a:r>
          </a:p>
          <a:p>
            <a:pPr>
              <a:spcAft>
                <a:spcPts val="300"/>
              </a:spcAft>
            </a:pPr>
            <a:r>
              <a:rPr lang="en-US" sz="1100">
                <a:solidFill>
                  <a:srgbClr val="BBBBBB"/>
                </a:solidFill>
                <a:latin typeface="Calibri"/>
              </a:rPr>
              <a:t>They live in a </a:t>
            </a:r>
            <a:r>
              <a:rPr lang="en-US" sz="1100">
                <a:solidFill>
                  <a:srgbClr val="4EC98B"/>
                </a:solidFill>
                <a:latin typeface="Consolas"/>
              </a:rPr>
              <a:t>.claude/commands/</a:t>
            </a:r>
            <a:r>
              <a:rPr lang="en-US" sz="1100">
                <a:solidFill>
                  <a:srgbClr val="BBBBBB"/>
                </a:solidFill>
                <a:latin typeface="Calibri"/>
              </a:rPr>
              <a:t> folder inside your project.  Each </a:t>
            </a:r>
            <a:r>
              <a:rPr lang="en-US" sz="1100">
                <a:solidFill>
                  <a:srgbClr val="4EC98B"/>
                </a:solidFill>
                <a:latin typeface="Consolas"/>
              </a:rPr>
              <a:t>.md</a:t>
            </a:r>
            <a:r>
              <a:rPr lang="en-US" sz="1100">
                <a:solidFill>
                  <a:srgbClr val="BBBBBB"/>
                </a:solidFill>
                <a:latin typeface="Calibri"/>
              </a:rPr>
              <a:t> file becomes a command.</a:t>
            </a:r>
          </a:p>
        </p:txBody>
      </p:sp>
      <p:sp>
        <p:nvSpPr>
          <p:cNvPr id="8" name="Rectangle 7"/>
          <p:cNvSpPr/>
          <p:nvPr/>
        </p:nvSpPr>
        <p:spPr>
          <a:xfrm>
            <a:off x="731520" y="2950000"/>
            <a:ext cx="5029200" cy="36576"/>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20000"/>
            <a:ext cx="5029200" cy="350000"/>
          </a:xfrm>
          <a:prstGeom prst="rect">
            <a:avLst/>
          </a:prstGeom>
          <a:noFill/>
        </p:spPr>
        <p:txBody>
          <a:bodyPr wrap="square">
            <a:spAutoFit/>
          </a:bodyPr>
          <a:lstStyle/>
          <a:p>
            <a:r>
              <a:rPr lang="en-US" sz="1600" b="1">
                <a:solidFill>
                  <a:srgbClr val="5B8DEF"/>
                </a:solidFill>
                <a:latin typeface="Calibri"/>
              </a:rPr>
              <a:t>Why Use Them?</a:t>
            </a:r>
          </a:p>
        </p:txBody>
      </p:sp>
      <p:sp>
        <p:nvSpPr>
          <p:cNvPr id="10" name="TextBox 9"/>
          <p:cNvSpPr txBox="1"/>
          <p:nvPr/>
        </p:nvSpPr>
        <p:spPr>
          <a:xfrm>
            <a:off x="731520" y="3400000"/>
            <a:ext cx="5029200" cy="3200000"/>
          </a:xfrm>
          <a:prstGeom prst="rect">
            <a:avLst/>
          </a:prstGeom>
          <a:noFill/>
        </p:spPr>
        <p:txBody>
          <a:bodyPr wrap="square">
            <a:spAutoFit/>
          </a:bodyPr>
          <a:lstStyle/>
          <a:p>
            <a:pPr>
              <a:spcAft>
                <a:spcPts val="550"/>
              </a:spcAft>
            </a:pPr>
            <a:r>
              <a:rPr lang="en-US" sz="1100">
                <a:solidFill>
                  <a:srgbClr val="5B8DEF"/>
                </a:solidFill>
                <a:latin typeface="Calibri"/>
              </a:rPr>
              <a:t>▸ </a:t>
            </a:r>
            <a:r>
              <a:rPr lang="en-US" sz="1100" b="1">
                <a:solidFill>
                  <a:srgbClr val="FFFFFF"/>
                </a:solidFill>
                <a:latin typeface="Calibri"/>
              </a:rPr>
              <a:t>Consistency</a:t>
            </a:r>
            <a:br>
              <a:rPr sz="800"/>
            </a:br>
            <a:r>
              <a:rPr lang="en-US" sz="1000">
                <a:solidFill>
                  <a:srgbClr val="999999"/>
                </a:solidFill>
                <a:latin typeface="Calibri"/>
              </a:rPr>
              <a:t>   Same analysis steps every time — no forgetting a filter or misremembering a business rule.</a:t>
            </a:r>
          </a:p>
          <a:p>
            <a:pPr>
              <a:spcAft>
                <a:spcPts val="550"/>
              </a:spcAft>
            </a:pPr>
            <a:r>
              <a:rPr lang="en-US" sz="1100">
                <a:solidFill>
                  <a:srgbClr val="5B8DEF"/>
                </a:solidFill>
                <a:latin typeface="Calibri"/>
              </a:rPr>
              <a:t>▸ </a:t>
            </a:r>
            <a:r>
              <a:rPr lang="en-US" sz="1100" b="1">
                <a:solidFill>
                  <a:srgbClr val="FFFFFF"/>
                </a:solidFill>
                <a:latin typeface="Calibri"/>
              </a:rPr>
              <a:t>Speed</a:t>
            </a:r>
            <a:br>
              <a:rPr sz="800"/>
            </a:br>
            <a:r>
              <a:rPr lang="en-US" sz="1000">
                <a:solidFill>
                  <a:srgbClr val="999999"/>
                </a:solidFill>
                <a:latin typeface="Calibri"/>
              </a:rPr>
              <a:t>   One command replaces a multi-paragraph prompt.  Run your standard workflow in seconds.</a:t>
            </a:r>
          </a:p>
          <a:p>
            <a:pPr>
              <a:spcAft>
                <a:spcPts val="550"/>
              </a:spcAft>
            </a:pPr>
            <a:r>
              <a:rPr lang="en-US" sz="1100">
                <a:solidFill>
                  <a:srgbClr val="5B8DEF"/>
                </a:solidFill>
                <a:latin typeface="Calibri"/>
              </a:rPr>
              <a:t>▸ </a:t>
            </a:r>
            <a:r>
              <a:rPr lang="en-US" sz="1100" b="1">
                <a:solidFill>
                  <a:srgbClr val="FFFFFF"/>
                </a:solidFill>
                <a:latin typeface="Calibri"/>
              </a:rPr>
              <a:t>Shareability</a:t>
            </a:r>
            <a:br>
              <a:rPr sz="800"/>
            </a:br>
            <a:r>
              <a:rPr lang="en-US" sz="1000">
                <a:solidFill>
                  <a:srgbClr val="999999"/>
                </a:solidFill>
                <a:latin typeface="Calibri"/>
              </a:rPr>
              <a:t>   Commit skills to Git and your whole team gets the same slash commands.  Onboarding becomes instant.</a:t>
            </a:r>
          </a:p>
          <a:p>
            <a:pPr>
              <a:spcAft>
                <a:spcPts val="550"/>
              </a:spcAft>
            </a:pPr>
            <a:r>
              <a:rPr lang="en-US" sz="1100">
                <a:solidFill>
                  <a:srgbClr val="5B8DEF"/>
                </a:solidFill>
                <a:latin typeface="Calibri"/>
              </a:rPr>
              <a:t>▸ </a:t>
            </a:r>
            <a:r>
              <a:rPr lang="en-US" sz="1100" b="1">
                <a:solidFill>
                  <a:srgbClr val="FFFFFF"/>
                </a:solidFill>
                <a:latin typeface="Calibri"/>
              </a:rPr>
              <a:t>Composability</a:t>
            </a:r>
            <a:br>
              <a:rPr sz="800"/>
            </a:br>
            <a:r>
              <a:rPr lang="en-US" sz="1000">
                <a:solidFill>
                  <a:srgbClr val="999999"/>
                </a:solidFill>
                <a:latin typeface="Calibri"/>
              </a:rPr>
              <a:t>   Skills can reference your CLAUDE.md context, making them even more powerful with project-specific knowledge.</a:t>
            </a:r>
          </a:p>
        </p:txBody>
      </p:sp>
      <p:sp>
        <p:nvSpPr>
          <p:cNvPr id="11" name="Rectangle 10"/>
          <p:cNvSpPr/>
          <p:nvPr/>
        </p:nvSpPr>
        <p:spPr>
          <a:xfrm>
            <a:off x="6583680" y="1350000"/>
            <a:ext cx="5029200" cy="36576"/>
          </a:xfrm>
          <a:prstGeom prst="rect">
            <a:avLst/>
          </a:prstGeom>
          <a:solidFill>
            <a:srgbClr val="9B6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420000"/>
            <a:ext cx="5029200" cy="350000"/>
          </a:xfrm>
          <a:prstGeom prst="rect">
            <a:avLst/>
          </a:prstGeom>
          <a:noFill/>
        </p:spPr>
        <p:txBody>
          <a:bodyPr wrap="square">
            <a:spAutoFit/>
          </a:bodyPr>
          <a:lstStyle/>
          <a:p>
            <a:r>
              <a:rPr lang="en-US" sz="1600" b="1">
                <a:solidFill>
                  <a:srgbClr val="9B6EE7"/>
                </a:solidFill>
                <a:latin typeface="Calibri"/>
              </a:rPr>
              <a:t>Try It: Build a </a:t>
            </a:r>
            <a:r>
              <a:rPr lang="en-US" sz="1600" b="1">
                <a:solidFill>
                  <a:srgbClr val="9B6EE7"/>
                </a:solidFill>
                <a:latin typeface="Consolas"/>
              </a:rPr>
              <a:t>/data-summary</a:t>
            </a:r>
            <a:r>
              <a:rPr lang="en-US" sz="1600" b="1">
                <a:solidFill>
                  <a:srgbClr val="9B6EE7"/>
                </a:solidFill>
                <a:latin typeface="Calibri"/>
              </a:rPr>
              <a:t> Skill</a:t>
            </a:r>
          </a:p>
        </p:txBody>
      </p:sp>
      <p:sp>
        <p:nvSpPr>
          <p:cNvPr id="13" name="TextBox 12"/>
          <p:cNvSpPr txBox="1"/>
          <p:nvPr/>
        </p:nvSpPr>
        <p:spPr>
          <a:xfrm>
            <a:off x="6583680" y="1800000"/>
            <a:ext cx="5029200" cy="450000"/>
          </a:xfrm>
          <a:prstGeom prst="rect">
            <a:avLst/>
          </a:prstGeom>
          <a:noFill/>
        </p:spPr>
        <p:txBody>
          <a:bodyPr wrap="square">
            <a:spAutoFit/>
          </a:bodyPr>
          <a:lstStyle/>
          <a:p>
            <a:r>
              <a:rPr lang="en-US" sz="1050">
                <a:solidFill>
                  <a:srgbClr val="BBBBBB"/>
                </a:solidFill>
                <a:latin typeface="Calibri"/>
              </a:rPr>
              <a:t>This skill tells Claude to profile any CSV — column types, missing values, outliers, and a plain-English summary.  Create it in under a minute.</a:t>
            </a:r>
          </a:p>
        </p:txBody>
      </p:sp>
      <p:sp>
        <p:nvSpPr>
          <p:cNvPr id="14" name="TextBox 13"/>
          <p:cNvSpPr txBox="1"/>
          <p:nvPr/>
        </p:nvSpPr>
        <p:spPr>
          <a:xfrm>
            <a:off x="6583680" y="2350000"/>
            <a:ext cx="5029200" cy="300000"/>
          </a:xfrm>
          <a:prstGeom prst="rect">
            <a:avLst/>
          </a:prstGeom>
          <a:noFill/>
        </p:spPr>
        <p:txBody>
          <a:bodyPr wrap="square">
            <a:spAutoFit/>
          </a:bodyPr>
          <a:lstStyle/>
          <a:p>
            <a:r>
              <a:rPr lang="en-US" sz="1400" b="1">
                <a:solidFill>
                  <a:srgbClr val="9B6EE7"/>
                </a:solidFill>
                <a:latin typeface="Calibri"/>
              </a:rPr>
              <a:t>1</a:t>
            </a:r>
            <a:r>
              <a:rPr lang="en-US" sz="1200" b="1">
                <a:solidFill>
                  <a:srgbClr val="FFFFFF"/>
                </a:solidFill>
                <a:latin typeface="Calibri"/>
              </a:rPr>
              <a:t>  Create the commands folder</a:t>
            </a:r>
          </a:p>
        </p:txBody>
      </p:sp>
      <p:sp>
        <p:nvSpPr>
          <p:cNvPr id="15" name="Rounded Rectangle 14"/>
          <p:cNvSpPr/>
          <p:nvPr/>
        </p:nvSpPr>
        <p:spPr>
          <a:xfrm>
            <a:off x="6583680" y="2650000"/>
            <a:ext cx="5029200" cy="350000"/>
          </a:xfrm>
          <a:prstGeom prst="round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lang="en-US" sz="950">
                <a:solidFill>
                  <a:srgbClr val="4EC98B"/>
                </a:solidFill>
                <a:latin typeface="Consolas"/>
              </a:rPr>
              <a:t>  mkdir -p .claude/commands</a:t>
            </a:r>
          </a:p>
        </p:txBody>
      </p:sp>
      <p:sp>
        <p:nvSpPr>
          <p:cNvPr id="16" name="TextBox 15"/>
          <p:cNvSpPr txBox="1"/>
          <p:nvPr/>
        </p:nvSpPr>
        <p:spPr>
          <a:xfrm>
            <a:off x="6583680" y="3100000"/>
            <a:ext cx="5029200" cy="300000"/>
          </a:xfrm>
          <a:prstGeom prst="rect">
            <a:avLst/>
          </a:prstGeom>
          <a:noFill/>
        </p:spPr>
        <p:txBody>
          <a:bodyPr wrap="square">
            <a:spAutoFit/>
          </a:bodyPr>
          <a:lstStyle/>
          <a:p>
            <a:r>
              <a:rPr lang="en-US" sz="1400" b="1">
                <a:solidFill>
                  <a:srgbClr val="9B6EE7"/>
                </a:solidFill>
                <a:latin typeface="Calibri"/>
              </a:rPr>
              <a:t>2</a:t>
            </a:r>
            <a:r>
              <a:rPr lang="en-US" sz="1200" b="1">
                <a:solidFill>
                  <a:srgbClr val="FFFFFF"/>
                </a:solidFill>
                <a:latin typeface="Calibri"/>
              </a:rPr>
              <a:t>  Create  </a:t>
            </a:r>
            <a:r>
              <a:rPr lang="en-US" sz="1200" b="1">
                <a:solidFill>
                  <a:srgbClr val="FFFFFF"/>
                </a:solidFill>
                <a:latin typeface="Consolas"/>
              </a:rPr>
              <a:t>data-summary.md</a:t>
            </a:r>
          </a:p>
        </p:txBody>
      </p:sp>
      <p:sp>
        <p:nvSpPr>
          <p:cNvPr id="17" name="Rounded Rectangle 16"/>
          <p:cNvSpPr/>
          <p:nvPr/>
        </p:nvSpPr>
        <p:spPr>
          <a:xfrm>
            <a:off x="6583680" y="3400000"/>
            <a:ext cx="5029200" cy="1850000"/>
          </a:xfrm>
          <a:prstGeom prst="round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10000"/>
              </a:lnSpc>
            </a:pPr>
            <a:r>
              <a:rPr lang="en-US" sz="850">
                <a:solidFill>
                  <a:srgbClr val="4EC98B"/>
                </a:solidFill>
                <a:latin typeface="Consolas"/>
              </a:rPr>
              <a:t>  Read the file: $ARGUMENTS</a:t>
            </a:r>
          </a:p>
          <a:p>
            <a:pPr>
              <a:lnSpc>
                <a:spcPct val="110000"/>
              </a:lnSpc>
            </a:pPr>
          </a:p>
          <a:p>
            <a:pPr>
              <a:lnSpc>
                <a:spcPct val="110000"/>
              </a:lnSpc>
            </a:pPr>
            <a:r>
              <a:rPr lang="en-US" sz="850">
                <a:solidFill>
                  <a:srgbClr val="4EC98B"/>
                </a:solidFill>
                <a:latin typeface="Consolas"/>
              </a:rPr>
              <a:t>  Then produce a summary that includes:</a:t>
            </a:r>
          </a:p>
          <a:p>
            <a:pPr>
              <a:lnSpc>
                <a:spcPct val="110000"/>
              </a:lnSpc>
            </a:pPr>
            <a:r>
              <a:rPr lang="en-US" sz="850">
                <a:solidFill>
                  <a:srgbClr val="4EC98B"/>
                </a:solidFill>
                <a:latin typeface="Consolas"/>
              </a:rPr>
              <a:t>  1. Row count and column count</a:t>
            </a:r>
          </a:p>
          <a:p>
            <a:pPr>
              <a:lnSpc>
                <a:spcPct val="110000"/>
              </a:lnSpc>
            </a:pPr>
            <a:r>
              <a:rPr lang="en-US" sz="850">
                <a:solidFill>
                  <a:srgbClr val="4EC98B"/>
                </a:solidFill>
                <a:latin typeface="Consolas"/>
              </a:rPr>
              <a:t>  2. Each column: name, type, % missing</a:t>
            </a:r>
          </a:p>
          <a:p>
            <a:pPr>
              <a:lnSpc>
                <a:spcPct val="110000"/>
              </a:lnSpc>
            </a:pPr>
            <a:r>
              <a:rPr lang="en-US" sz="850">
                <a:solidFill>
                  <a:srgbClr val="4EC98B"/>
                </a:solidFill>
                <a:latin typeface="Consolas"/>
              </a:rPr>
              <a:t>  3. Numeric columns: min, max, mean, median</a:t>
            </a:r>
          </a:p>
          <a:p>
            <a:pPr>
              <a:lnSpc>
                <a:spcPct val="110000"/>
              </a:lnSpc>
            </a:pPr>
            <a:r>
              <a:rPr lang="en-US" sz="850">
                <a:solidFill>
                  <a:srgbClr val="4EC98B"/>
                </a:solidFill>
                <a:latin typeface="Consolas"/>
              </a:rPr>
              <a:t>  4. Flag any obvious data quality issues</a:t>
            </a:r>
          </a:p>
          <a:p>
            <a:pPr>
              <a:lnSpc>
                <a:spcPct val="110000"/>
              </a:lnSpc>
            </a:pPr>
            <a:r>
              <a:rPr lang="en-US" sz="850">
                <a:solidFill>
                  <a:srgbClr val="4EC98B"/>
                </a:solidFill>
                <a:latin typeface="Consolas"/>
              </a:rPr>
              <a:t>  5. A 2-3 sentence plain-English overview</a:t>
            </a:r>
          </a:p>
          <a:p>
            <a:pPr>
              <a:lnSpc>
                <a:spcPct val="110000"/>
              </a:lnSpc>
            </a:pPr>
            <a:r>
              <a:rPr lang="en-US" sz="850">
                <a:solidFill>
                  <a:srgbClr val="4EC98B"/>
                </a:solidFill>
                <a:latin typeface="Consolas"/>
              </a:rPr>
              <a:t>     of what this dataset appears to contain</a:t>
            </a:r>
          </a:p>
          <a:p>
            <a:pPr>
              <a:lnSpc>
                <a:spcPct val="110000"/>
              </a:lnSpc>
            </a:pPr>
          </a:p>
          <a:p>
            <a:pPr>
              <a:lnSpc>
                <a:spcPct val="110000"/>
              </a:lnSpc>
            </a:pPr>
            <a:r>
              <a:rPr lang="en-US" sz="850">
                <a:solidFill>
                  <a:srgbClr val="4EC98B"/>
                </a:solidFill>
                <a:latin typeface="Consolas"/>
              </a:rPr>
              <a:t>  Use pandas. Print results to the console</a:t>
            </a:r>
          </a:p>
          <a:p>
            <a:pPr>
              <a:lnSpc>
                <a:spcPct val="110000"/>
              </a:lnSpc>
            </a:pPr>
            <a:r>
              <a:rPr lang="en-US" sz="850">
                <a:solidFill>
                  <a:srgbClr val="4EC98B"/>
                </a:solidFill>
                <a:latin typeface="Consolas"/>
              </a:rPr>
              <a:t>  (do not save to a file).</a:t>
            </a:r>
          </a:p>
        </p:txBody>
      </p:sp>
      <p:sp>
        <p:nvSpPr>
          <p:cNvPr id="18" name="TextBox 17"/>
          <p:cNvSpPr txBox="1"/>
          <p:nvPr/>
        </p:nvSpPr>
        <p:spPr>
          <a:xfrm>
            <a:off x="6583680" y="5350000"/>
            <a:ext cx="5029200" cy="300000"/>
          </a:xfrm>
          <a:prstGeom prst="rect">
            <a:avLst/>
          </a:prstGeom>
          <a:noFill/>
        </p:spPr>
        <p:txBody>
          <a:bodyPr wrap="square">
            <a:spAutoFit/>
          </a:bodyPr>
          <a:lstStyle/>
          <a:p>
            <a:r>
              <a:rPr lang="en-US" sz="1400" b="1">
                <a:solidFill>
                  <a:srgbClr val="9B6EE7"/>
                </a:solidFill>
                <a:latin typeface="Calibri"/>
              </a:rPr>
              <a:t>3</a:t>
            </a:r>
            <a:r>
              <a:rPr lang="en-US" sz="1200" b="1">
                <a:solidFill>
                  <a:srgbClr val="FFFFFF"/>
                </a:solidFill>
                <a:latin typeface="Calibri"/>
              </a:rPr>
              <a:t>  Use it</a:t>
            </a:r>
          </a:p>
        </p:txBody>
      </p:sp>
      <p:sp>
        <p:nvSpPr>
          <p:cNvPr id="19" name="Rounded Rectangle 18"/>
          <p:cNvSpPr/>
          <p:nvPr/>
        </p:nvSpPr>
        <p:spPr>
          <a:xfrm>
            <a:off x="6583680" y="5650000"/>
            <a:ext cx="5029200" cy="350000"/>
          </a:xfrm>
          <a:prstGeom prst="round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lang="en-US" sz="950">
                <a:solidFill>
                  <a:srgbClr val="4EC98B"/>
                </a:solidFill>
                <a:latin typeface="Consolas"/>
              </a:rPr>
              <a:t>  /data-summary sales_q4.csv</a:t>
            </a:r>
          </a:p>
        </p:txBody>
      </p:sp>
      <p:sp>
        <p:nvSpPr>
          <p:cNvPr id="20" name="TextBox 19"/>
          <p:cNvSpPr txBox="1"/>
          <p:nvPr/>
        </p:nvSpPr>
        <p:spPr>
          <a:xfrm>
            <a:off x="6583680" y="6100000"/>
            <a:ext cx="5029200" cy="400000"/>
          </a:xfrm>
          <a:prstGeom prst="rect">
            <a:avLst/>
          </a:prstGeom>
          <a:noFill/>
        </p:spPr>
        <p:txBody>
          <a:bodyPr wrap="square">
            <a:spAutoFit/>
          </a:bodyPr>
          <a:lstStyle/>
          <a:p>
            <a:r>
              <a:rPr lang="en-US" sz="900">
                <a:solidFill>
                  <a:srgbClr val="D47B2A"/>
                </a:solidFill>
                <a:latin typeface="Consolas"/>
              </a:rPr>
              <a:t>$ARGUMENTS</a:t>
            </a:r>
            <a:r>
              <a:rPr lang="en-US" sz="900">
                <a:solidFill>
                  <a:srgbClr val="888888"/>
                </a:solidFill>
                <a:latin typeface="Calibri"/>
              </a:rPr>
              <a:t> is replaced with whatever you type after the command — so Claude knows which file to read.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1271</TotalTime>
  <Words>2283</Words>
  <Application>Microsoft Macintosh PowerPoint</Application>
  <PresentationFormat>Widescreen</PresentationFormat>
  <Paragraphs>236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Ingraham</cp:lastModifiedBy>
  <cp:revision>4</cp:revision>
  <dcterms:created xsi:type="dcterms:W3CDTF">2013-01-27T09:14:16Z</dcterms:created>
  <dcterms:modified xsi:type="dcterms:W3CDTF">2026-01-29T22:57:09Z</dcterms:modified>
  <cp:category/>
</cp:coreProperties>
</file>